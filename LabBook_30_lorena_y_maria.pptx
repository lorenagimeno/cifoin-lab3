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6" r:id="rId5"/>
    <p:sldId id="375" r:id="rId6"/>
    <p:sldId id="376" r:id="rId7"/>
    <p:sldId id="377" r:id="rId8"/>
    <p:sldId id="388" r:id="rId9"/>
    <p:sldId id="380" r:id="rId10"/>
    <p:sldId id="381"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ACDFCA-54DF-4FD9-8C1D-96C2A4EC5157}" v="266" dt="2026-05-27T09:36:31.01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27/05/2026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27/05/2026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a:latin typeface="Lucida Sans"/>
                <a:cs typeface="Lucida Sans"/>
              </a:rPr>
              <a:t>Lab Book 3.0 Circuits and Compact </a:t>
            </a:r>
            <a:r>
              <a:rPr lang="es-ES" sz="3200" b="1" err="1">
                <a:latin typeface="Lucida Sans"/>
                <a:cs typeface="Lucida Sans"/>
              </a:rPr>
              <a:t>Models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Lorena Gimeno Almiñana y María Montilla Martínez</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a:solidFill>
                  <a:sysClr val="windowText" lastClr="000000"/>
                </a:solidFill>
              </a:rPr>
              <a:t>CIRCUITS_&amp;_</a:t>
            </a:r>
            <a:r>
              <a:rPr lang="en-US" kern="0" err="1">
                <a:solidFill>
                  <a:sysClr val="windowText" lastClr="000000"/>
                </a:solidFill>
              </a:rPr>
              <a:t>COMPACT_MODELS.ipynb</a:t>
            </a:r>
            <a:r>
              <a:rPr lang="en-US" kern="0">
                <a:solidFill>
                  <a:sysClr val="windowText" lastClr="000000"/>
                </a:solidFill>
              </a:rPr>
              <a:t> </a:t>
            </a:r>
          </a:p>
          <a:p>
            <a:pPr algn="just"/>
            <a:endParaRPr lang="en-US" b="1" i="1"/>
          </a:p>
          <a:p>
            <a:pPr algn="just"/>
            <a:r>
              <a:rPr lang="en-US" b="1" i="1"/>
              <a:t>Devices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a:t>Ring Resonators (RR)</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a:t>Mach-Zehnder Interferometer (MZI)</a:t>
            </a:r>
            <a:endParaRPr lang="en-US"/>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#1a – Perfectly balanced MZI</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000" y="4775456"/>
            <a:ext cx="11199971" cy="156966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latin typeface="Arial" panose="020B0604020202020204" pitchFamily="34" charset="0"/>
                <a:cs typeface="Arial" panose="020B0604020202020204" pitchFamily="34" charset="0"/>
              </a:rPr>
              <a:t>Document and comment your results</a:t>
            </a:r>
          </a:p>
          <a:p>
            <a:r>
              <a:rPr lang="es-ES" sz="1200" dirty="0">
                <a:latin typeface="Arial" panose="020B0604020202020204" pitchFamily="34" charset="0"/>
                <a:cs typeface="Arial" panose="020B0604020202020204" pitchFamily="34" charset="0"/>
              </a:rPr>
              <a:t>En este caso, como la diferencia de camino es nula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 0 nm), ambos brazos del MZI tienen exactamente la misma longitud. Por eso no aparece ningún desfase entre las señales y el comportamiento del dispositivo no depende de la longitud de onda en el rango de 1500-1600 nm, la respuesta es plana en toda la gráfica.</a:t>
            </a:r>
          </a:p>
          <a:p>
            <a:r>
              <a:rPr lang="es-ES" sz="1200" dirty="0">
                <a:latin typeface="Arial" panose="020B0604020202020204" pitchFamily="34" charset="0"/>
                <a:cs typeface="Arial" panose="020B0604020202020204" pitchFamily="34" charset="0"/>
              </a:rPr>
              <a:t>Además, al utilizar acopladores con K=0.5, toda la potencia se dirige de manera constante hacia la salida H01, manteniéndose en torno a 0 dB, mientras que en la salida H00 prácticamente no aparece señal.</a:t>
            </a:r>
          </a:p>
          <a:p>
            <a:r>
              <a:rPr lang="es-ES" sz="1200" dirty="0">
                <a:latin typeface="Arial" panose="020B0604020202020204" pitchFamily="34" charset="0"/>
                <a:cs typeface="Arial" panose="020B0604020202020204" pitchFamily="34" charset="0"/>
              </a:rPr>
              <a:t>Esto demuestra que, cuando un MZI está perfectamente equilibrado y no existe diferencia de longitud entre los brazos, el dispositivo actúa simplemente como un camino fijo de transmisión hacia una de las salidas.</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9" name="Imagen 8">
            <a:extLst>
              <a:ext uri="{FF2B5EF4-FFF2-40B4-BE49-F238E27FC236}">
                <a16:creationId xmlns:a16="http://schemas.microsoft.com/office/drawing/2014/main" id="{0EDF65F5-FA45-EA01-DAAC-002B0316299B}"/>
              </a:ext>
            </a:extLst>
          </p:cNvPr>
          <p:cNvPicPr>
            <a:picLocks noChangeAspect="1"/>
          </p:cNvPicPr>
          <p:nvPr/>
        </p:nvPicPr>
        <p:blipFill>
          <a:blip r:embed="rId4"/>
          <a:stretch>
            <a:fillRect/>
          </a:stretch>
        </p:blipFill>
        <p:spPr>
          <a:xfrm>
            <a:off x="685800" y="1587542"/>
            <a:ext cx="5183197" cy="2904204"/>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#1b – Unbalanced MZI</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a:t>HINTS</a:t>
            </a:r>
            <a:r>
              <a:rPr lang="en-US" b="1"/>
              <a:t>: </a:t>
            </a:r>
          </a:p>
          <a:p>
            <a:pPr marL="0" indent="0" algn="just">
              <a:buNone/>
            </a:pPr>
            <a:r>
              <a:rPr lang="en-US" err="1"/>
              <a:t>wvl</a:t>
            </a:r>
            <a:r>
              <a:rPr lang="en-US"/>
              <a:t> [1500-1600] step 0.001</a:t>
            </a:r>
          </a:p>
          <a:p>
            <a:pPr algn="just"/>
            <a:r>
              <a:rPr lang="en-US"/>
              <a:t>dL = </a:t>
            </a:r>
            <a:r>
              <a:rPr lang="en-US">
                <a:latin typeface="Arial" panose="020B0604020202020204" pitchFamily="34" charset="0"/>
                <a:cs typeface="Arial" panose="020B0604020202020204" pitchFamily="34" charset="0"/>
                <a:sym typeface="Wingdings" pitchFamily="2" charset="2"/>
              </a:rPr>
              <a:t>100 µm</a:t>
            </a:r>
            <a:endParaRPr lang="en-US"/>
          </a:p>
          <a:p>
            <a:pPr marL="0" indent="0" algn="just">
              <a:buNone/>
            </a:pPr>
            <a:r>
              <a:rPr lang="en-US"/>
              <a:t>Kin = Kout = 0.5 for all </a:t>
            </a:r>
            <a:r>
              <a:rPr lang="en-US" err="1"/>
              <a:t>wvl</a:t>
            </a:r>
            <a:endParaRPr lang="en-US"/>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583019" y="4806671"/>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r>
              <a:rPr lang="en-US" sz="1200" dirty="0">
                <a:latin typeface="Arial" panose="020B0604020202020204" pitchFamily="34" charset="0"/>
                <a:cs typeface="Arial" panose="020B0604020202020204" pitchFamily="34" charset="0"/>
              </a:rPr>
              <a:t>El FSR es de 12.0125 nm. </a:t>
            </a: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este MZI desequilibrado (con una diferencia entre brazos de ΔL = 100 </a:t>
            </a:r>
            <a:r>
              <a:rPr lang="es-ES" sz="1200" dirty="0" err="1">
                <a:latin typeface="Arial" panose="020B0604020202020204" pitchFamily="34" charset="0"/>
                <a:cs typeface="Arial" panose="020B0604020202020204" pitchFamily="34" charset="0"/>
              </a:rPr>
              <a:t>μm</a:t>
            </a:r>
            <a:r>
              <a:rPr lang="es-ES" sz="1200" dirty="0">
                <a:latin typeface="Arial" panose="020B0604020202020204" pitchFamily="34" charset="0"/>
                <a:cs typeface="Arial" panose="020B0604020202020204" pitchFamily="34" charset="0"/>
              </a:rPr>
              <a:t>), la función de transferencia es periódica y oscilatoria, y sus salidas H00 y H01 son complementarias (desfasadas 180°). El FSR y ΔL son inversamente proporcionales: cuanto mayor es la diferencia de longitud, más juntos están los picos y menor es el FSR.</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9" name="Imagen 8">
            <a:extLst>
              <a:ext uri="{FF2B5EF4-FFF2-40B4-BE49-F238E27FC236}">
                <a16:creationId xmlns:a16="http://schemas.microsoft.com/office/drawing/2014/main" id="{B5F8F784-3C63-C095-2211-BF2D77B127F9}"/>
              </a:ext>
            </a:extLst>
          </p:cNvPr>
          <p:cNvPicPr>
            <a:picLocks noChangeAspect="1"/>
          </p:cNvPicPr>
          <p:nvPr/>
        </p:nvPicPr>
        <p:blipFill>
          <a:blip r:embed="rId4"/>
          <a:stretch>
            <a:fillRect/>
          </a:stretch>
        </p:blipFill>
        <p:spPr>
          <a:xfrm>
            <a:off x="685800" y="1691562"/>
            <a:ext cx="5184648" cy="2838742"/>
          </a:xfrm>
          <a:prstGeom prst="rect">
            <a:avLst/>
          </a:prstGeom>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816D70FE-CCEC-E59C-7790-882FD2025587}"/>
                  </a:ext>
                </a:extLst>
              </p:cNvPr>
              <p:cNvSpPr txBox="1"/>
              <p:nvPr/>
            </p:nvSpPr>
            <p:spPr>
              <a:xfrm>
                <a:off x="6741006" y="2844687"/>
                <a:ext cx="4612794" cy="586827"/>
              </a:xfrm>
              <a:prstGeom prst="rect">
                <a:avLst/>
              </a:prstGeom>
              <a:noFill/>
            </p:spPr>
            <p:txBody>
              <a:bodyPr wrap="square">
                <a:spAutoFit/>
              </a:bodyPr>
              <a:lstStyle/>
              <a:p>
                <a14:m>
                  <m:oMath xmlns:m="http://schemas.openxmlformats.org/officeDocument/2006/math">
                    <m:r>
                      <m:rPr>
                        <m:sty m:val="p"/>
                      </m:rPr>
                      <a:rPr lang="el-GR" sz="1800" i="1" smtClean="0">
                        <a:latin typeface="Cambria Math" panose="02040503050406030204" pitchFamily="18" charset="0"/>
                        <a:ea typeface="Cambria Math" panose="02040503050406030204" pitchFamily="18" charset="0"/>
                      </a:rPr>
                      <m:t>Δ</m:t>
                    </m:r>
                    <m:r>
                      <a:rPr lang="el-GR" sz="1800" i="1" smtClean="0">
                        <a:latin typeface="Cambria Math" panose="02040503050406030204" pitchFamily="18" charset="0"/>
                        <a:ea typeface="Cambria Math" panose="02040503050406030204" pitchFamily="18" charset="0"/>
                      </a:rPr>
                      <m:t>𝜆</m:t>
                    </m:r>
                    <m:r>
                      <a:rPr lang="es-ES" sz="1800" b="0" i="1" smtClean="0">
                        <a:latin typeface="Cambria Math" panose="02040503050406030204" pitchFamily="18" charset="0"/>
                        <a:ea typeface="Cambria Math" panose="02040503050406030204" pitchFamily="18" charset="0"/>
                      </a:rPr>
                      <m:t>𝐹𝑆𝑅</m:t>
                    </m:r>
                    <m:r>
                      <a:rPr lang="es-ES" sz="1800" b="0" i="1" smtClean="0">
                        <a:latin typeface="Cambria Math" panose="02040503050406030204" pitchFamily="18" charset="0"/>
                        <a:ea typeface="Cambria Math" panose="02040503050406030204" pitchFamily="18" charset="0"/>
                      </a:rPr>
                      <m:t>= </m:t>
                    </m:r>
                    <m:f>
                      <m:fPr>
                        <m:ctrlPr>
                          <a:rPr lang="es-ES" sz="1800" b="0" i="1" smtClean="0">
                            <a:latin typeface="Cambria Math" panose="02040503050406030204" pitchFamily="18" charset="0"/>
                            <a:ea typeface="Cambria Math" panose="02040503050406030204" pitchFamily="18" charset="0"/>
                          </a:rPr>
                        </m:ctrlPr>
                      </m:fPr>
                      <m:num>
                        <m:sSup>
                          <m:sSupPr>
                            <m:ctrlPr>
                              <a:rPr lang="es-ES" sz="1800" b="0" i="1" smtClean="0">
                                <a:latin typeface="Cambria Math" panose="02040503050406030204" pitchFamily="18" charset="0"/>
                                <a:ea typeface="Cambria Math" panose="02040503050406030204" pitchFamily="18" charset="0"/>
                              </a:rPr>
                            </m:ctrlPr>
                          </m:sSupPr>
                          <m:e>
                            <m:r>
                              <a:rPr lang="es-ES" sz="1800" b="0" i="1" smtClean="0">
                                <a:latin typeface="Cambria Math" panose="02040503050406030204" pitchFamily="18" charset="0"/>
                                <a:ea typeface="Cambria Math" panose="02040503050406030204" pitchFamily="18" charset="0"/>
                              </a:rPr>
                              <m:t>𝜆</m:t>
                            </m:r>
                          </m:e>
                          <m:sup>
                            <m:r>
                              <a:rPr lang="es-ES" sz="1800" b="0" i="1" smtClean="0">
                                <a:latin typeface="Cambria Math" panose="02040503050406030204" pitchFamily="18" charset="0"/>
                                <a:ea typeface="Cambria Math" panose="02040503050406030204" pitchFamily="18" charset="0"/>
                              </a:rPr>
                              <m:t>2</m:t>
                            </m:r>
                          </m:sup>
                        </m:sSup>
                      </m:num>
                      <m:den>
                        <m:sSub>
                          <m:sSubPr>
                            <m:ctrlPr>
                              <a:rPr lang="es-ES" sz="1800" b="0" i="1" smtClean="0">
                                <a:latin typeface="Cambria Math" panose="02040503050406030204" pitchFamily="18" charset="0"/>
                                <a:ea typeface="Cambria Math" panose="02040503050406030204" pitchFamily="18" charset="0"/>
                              </a:rPr>
                            </m:ctrlPr>
                          </m:sSubPr>
                          <m:e>
                            <m:r>
                              <a:rPr lang="es-ES" sz="1800" b="0" i="1" smtClean="0">
                                <a:latin typeface="Cambria Math" panose="02040503050406030204" pitchFamily="18" charset="0"/>
                                <a:ea typeface="Cambria Math" panose="02040503050406030204" pitchFamily="18" charset="0"/>
                              </a:rPr>
                              <m:t>𝑛</m:t>
                            </m:r>
                          </m:e>
                          <m:sub>
                            <m:r>
                              <a:rPr lang="es-ES" sz="1800" b="0" i="1" smtClean="0">
                                <a:latin typeface="Cambria Math" panose="02040503050406030204" pitchFamily="18" charset="0"/>
                                <a:ea typeface="Cambria Math" panose="02040503050406030204" pitchFamily="18" charset="0"/>
                              </a:rPr>
                              <m:t>𝑔</m:t>
                            </m:r>
                          </m:sub>
                        </m:sSub>
                        <m:r>
                          <m:rPr>
                            <m:sty m:val="p"/>
                          </m:rPr>
                          <a:rPr lang="el-GR" sz="1800" b="0" i="1" smtClean="0">
                            <a:latin typeface="Cambria Math" panose="02040503050406030204" pitchFamily="18" charset="0"/>
                            <a:ea typeface="Cambria Math" panose="02040503050406030204" pitchFamily="18" charset="0"/>
                          </a:rPr>
                          <m:t>Δ</m:t>
                        </m:r>
                        <m:r>
                          <a:rPr lang="es-ES" sz="1800" b="0" i="1" smtClean="0">
                            <a:latin typeface="Cambria Math" panose="02040503050406030204" pitchFamily="18" charset="0"/>
                            <a:ea typeface="Cambria Math" panose="02040503050406030204" pitchFamily="18" charset="0"/>
                          </a:rPr>
                          <m:t>𝐿</m:t>
                        </m:r>
                      </m:den>
                    </m:f>
                  </m:oMath>
                </a14:m>
                <a:r>
                  <a:rPr lang="en-US" sz="1800"/>
                  <a:t> =</a:t>
                </a:r>
                <a14:m>
                  <m:oMath xmlns:m="http://schemas.openxmlformats.org/officeDocument/2006/math">
                    <m:f>
                      <m:fPr>
                        <m:ctrlPr>
                          <a:rPr lang="en-US" sz="1800" i="1" dirty="0" smtClean="0">
                            <a:latin typeface="Cambria Math" panose="02040503050406030204" pitchFamily="18" charset="0"/>
                          </a:rPr>
                        </m:ctrlPr>
                      </m:fPr>
                      <m:num>
                        <m:sSup>
                          <m:sSupPr>
                            <m:ctrlPr>
                              <a:rPr lang="es-ES" sz="1800" b="0" i="1" dirty="0" smtClean="0">
                                <a:latin typeface="Cambria Math" panose="02040503050406030204" pitchFamily="18" charset="0"/>
                              </a:rPr>
                            </m:ctrlPr>
                          </m:sSupPr>
                          <m:e>
                            <m:r>
                              <a:rPr lang="es-ES" sz="1800" b="0" i="1" dirty="0" smtClean="0">
                                <a:latin typeface="Cambria Math" panose="02040503050406030204" pitchFamily="18" charset="0"/>
                              </a:rPr>
                              <m:t>1.550</m:t>
                            </m:r>
                          </m:e>
                          <m:sup>
                            <m:r>
                              <a:rPr lang="es-ES" sz="1800" b="0" i="1" dirty="0" smtClean="0">
                                <a:latin typeface="Cambria Math" panose="02040503050406030204" pitchFamily="18" charset="0"/>
                              </a:rPr>
                              <m:t>2</m:t>
                            </m:r>
                          </m:sup>
                        </m:sSup>
                      </m:num>
                      <m:den>
                        <m:r>
                          <a:rPr lang="es-ES" sz="1800" b="0" i="1" dirty="0" smtClean="0">
                            <a:latin typeface="Cambria Math" panose="02040503050406030204" pitchFamily="18" charset="0"/>
                          </a:rPr>
                          <m:t>2∗100</m:t>
                        </m:r>
                      </m:den>
                    </m:f>
                    <m:r>
                      <a:rPr lang="es-ES" sz="1800" b="0" i="1" dirty="0" smtClean="0">
                        <a:latin typeface="Cambria Math" panose="02040503050406030204" pitchFamily="18" charset="0"/>
                      </a:rPr>
                      <m:t>=12.0125 </m:t>
                    </m:r>
                    <m:r>
                      <a:rPr lang="es-ES" sz="1800" b="0" i="1" dirty="0" smtClean="0">
                        <a:latin typeface="Cambria Math" panose="02040503050406030204" pitchFamily="18" charset="0"/>
                      </a:rPr>
                      <m:t>𝑛𝑚</m:t>
                    </m:r>
                  </m:oMath>
                </a14:m>
                <a:endParaRPr lang="es-ES"/>
              </a:p>
            </p:txBody>
          </p:sp>
        </mc:Choice>
        <mc:Fallback xmlns="">
          <p:sp>
            <p:nvSpPr>
              <p:cNvPr id="11" name="CuadroTexto 10">
                <a:extLst>
                  <a:ext uri="{FF2B5EF4-FFF2-40B4-BE49-F238E27FC236}">
                    <a16:creationId xmlns:a16="http://schemas.microsoft.com/office/drawing/2014/main" id="{816D70FE-CCEC-E59C-7790-882FD2025587}"/>
                  </a:ext>
                </a:extLst>
              </p:cNvPr>
              <p:cNvSpPr txBox="1">
                <a:spLocks noRot="1" noChangeAspect="1" noMove="1" noResize="1" noEditPoints="1" noAdjustHandles="1" noChangeArrowheads="1" noChangeShapeType="1" noTextEdit="1"/>
              </p:cNvSpPr>
              <p:nvPr/>
            </p:nvSpPr>
            <p:spPr>
              <a:xfrm>
                <a:off x="6741006" y="2844687"/>
                <a:ext cx="4612794" cy="58682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609600" y="4803731"/>
            <a:ext cx="11200960"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r>
              <a:rPr lang="es-ES" sz="1200" dirty="0">
                <a:latin typeface="Arial" panose="020B0604020202020204" pitchFamily="34" charset="0"/>
                <a:cs typeface="Arial" panose="020B0604020202020204" pitchFamily="34" charset="0"/>
              </a:rPr>
              <a:t>Aplicando la fórmula, se obtiene que la diferencia de longitud necesaria entre los brazos es ΔL = 600 µm. Al analizar las gráficas de la simulación, se observa que los picos están mucho más próximos entre sí que en los casos anteriores, cumpliendo así con los 2 nm requeridos.</a:t>
            </a:r>
          </a:p>
          <a:p>
            <a:r>
              <a:rPr lang="es-ES" sz="1200" dirty="0">
                <a:latin typeface="Arial" panose="020B0604020202020204" pitchFamily="34" charset="0"/>
                <a:cs typeface="Arial" panose="020B0604020202020204" pitchFamily="34" charset="0"/>
              </a:rPr>
              <a:t>Además, como en este modelo los acopladores son ideales (K = 0.5) y no se consideran pérdidas, la potencia se distribuye perfectamente entre ambas salidas y los valles de interferencia en la gráfica en dB son muy pronunciados, lo que indica que el dispositivo funciona adecuadamente para filtrar señales con alta precisión.</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07074"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a:t>MZI transfer </a:t>
            </a:r>
            <a:r>
              <a:rPr lang="es-ES" sz="2000" err="1"/>
              <a:t>functions</a:t>
            </a:r>
            <a:endParaRPr lang="en-US" sz="2000"/>
          </a:p>
          <a:p>
            <a:pPr algn="ctr"/>
            <a:endParaRPr lang="en-US" sz="2000"/>
          </a:p>
          <a:p>
            <a:pPr algn="ctr"/>
            <a:r>
              <a:rPr lang="en-US" sz="200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a:solidFill>
                  <a:schemeClr val="tx1"/>
                </a:solidFill>
                <a:latin typeface="Arial" panose="020B0604020202020204" pitchFamily="34" charset="0"/>
                <a:cs typeface="Arial" panose="020B0604020202020204" pitchFamily="34" charset="0"/>
              </a:rPr>
              <a:t>Hints:</a:t>
            </a:r>
            <a:endParaRPr lang="en-US">
              <a:solidFill>
                <a:schemeClr val="tx1"/>
              </a:solidFill>
              <a:latin typeface="Arial" panose="020B0604020202020204" pitchFamily="34" charset="0"/>
              <a:cs typeface="Arial" panose="020B0604020202020204" pitchFamily="34" charset="0"/>
            </a:endParaRPr>
          </a:p>
          <a:p>
            <a:pPr algn="just"/>
            <a:r>
              <a:rPr lang="en-US" err="1">
                <a:solidFill>
                  <a:schemeClr val="tx1"/>
                </a:solidFill>
                <a:latin typeface="Arial" panose="020B0604020202020204" pitchFamily="34" charset="0"/>
                <a:cs typeface="Arial" panose="020B0604020202020204" pitchFamily="34" charset="0"/>
                <a:sym typeface="Wingdings" pitchFamily="2" charset="2"/>
              </a:rPr>
              <a:t>wvl</a:t>
            </a:r>
            <a:r>
              <a:rPr lang="en-US">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a:solidFill>
                  <a:schemeClr val="tx1"/>
                </a:solidFill>
                <a:latin typeface="Arial" panose="020B0604020202020204" pitchFamily="34" charset="0"/>
                <a:cs typeface="Arial" panose="020B0604020202020204" pitchFamily="34" charset="0"/>
                <a:sym typeface="Wingdings" pitchFamily="2" charset="2"/>
              </a:rPr>
              <a:t>dL = ? µm </a:t>
            </a:r>
            <a:r>
              <a:rPr lang="en-US" b="1">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a:solidFill>
                  <a:schemeClr val="tx1"/>
                </a:solidFill>
                <a:latin typeface="Arial" panose="020B0604020202020204" pitchFamily="34" charset="0"/>
                <a:cs typeface="Arial" panose="020B0604020202020204" pitchFamily="34" charset="0"/>
                <a:sym typeface="Wingdings" pitchFamily="2" charset="2"/>
              </a:rPr>
              <a:t>Ka = </a:t>
            </a:r>
            <a:r>
              <a:rPr lang="en-US" err="1">
                <a:solidFill>
                  <a:schemeClr val="tx1"/>
                </a:solidFill>
                <a:latin typeface="Arial" panose="020B0604020202020204" pitchFamily="34" charset="0"/>
                <a:cs typeface="Arial" panose="020B0604020202020204" pitchFamily="34" charset="0"/>
                <a:sym typeface="Wingdings" pitchFamily="2" charset="2"/>
              </a:rPr>
              <a:t>Kb</a:t>
            </a:r>
            <a:r>
              <a:rPr lang="en-US">
                <a:solidFill>
                  <a:schemeClr val="tx1"/>
                </a:solidFill>
                <a:latin typeface="Arial" panose="020B0604020202020204" pitchFamily="34" charset="0"/>
                <a:cs typeface="Arial" panose="020B0604020202020204" pitchFamily="34" charset="0"/>
                <a:sym typeface="Wingdings" pitchFamily="2" charset="2"/>
              </a:rPr>
              <a:t> = 0.5 for all </a:t>
            </a:r>
            <a:r>
              <a:rPr lang="en-US" err="1">
                <a:solidFill>
                  <a:schemeClr val="tx1"/>
                </a:solidFill>
                <a:latin typeface="Arial" panose="020B0604020202020204" pitchFamily="34" charset="0"/>
                <a:cs typeface="Arial" panose="020B0604020202020204" pitchFamily="34" charset="0"/>
                <a:sym typeface="Wingdings" pitchFamily="2" charset="2"/>
              </a:rPr>
              <a:t>wvl</a:t>
            </a:r>
            <a:endParaRPr lang="en-US">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3313488" y="1418373"/>
            <a:ext cx="514471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4CF28B4-1346-F41D-2CD8-EA104ABBFB98}"/>
                  </a:ext>
                </a:extLst>
              </p:cNvPr>
              <p:cNvSpPr txBox="1"/>
              <p:nvPr/>
            </p:nvSpPr>
            <p:spPr>
              <a:xfrm>
                <a:off x="880909" y="2202744"/>
                <a:ext cx="1967315" cy="1428404"/>
              </a:xfrm>
              <a:prstGeom prst="rect">
                <a:avLst/>
              </a:prstGeom>
              <a:noFill/>
            </p:spPr>
            <p:txBody>
              <a:bodyPr wrap="square" rtlCol="0">
                <a:spAutoFit/>
              </a:bodyPr>
              <a:lstStyle/>
              <a:p>
                <a:pPr algn="ct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Δ</m:t>
                    </m:r>
                    <m:r>
                      <a:rPr lang="es-ES" sz="2000" b="0" i="1" smtClean="0">
                        <a:latin typeface="Cambria Math" panose="02040503050406030204" pitchFamily="18" charset="0"/>
                        <a:ea typeface="Cambria Math" panose="02040503050406030204" pitchFamily="18" charset="0"/>
                      </a:rPr>
                      <m:t>𝐿</m:t>
                    </m:r>
                    <m:r>
                      <a:rPr lang="es-ES" sz="2000" b="0" i="1" smtClean="0">
                        <a:latin typeface="Cambria Math" panose="02040503050406030204" pitchFamily="18" charset="0"/>
                        <a:ea typeface="Cambria Math" panose="02040503050406030204" pitchFamily="18" charset="0"/>
                      </a:rPr>
                      <m:t>= </m:t>
                    </m:r>
                    <m:f>
                      <m:fPr>
                        <m:ctrlPr>
                          <a:rPr lang="es-ES" sz="2000" b="0" i="1" smtClean="0">
                            <a:latin typeface="Cambria Math" panose="02040503050406030204" pitchFamily="18" charset="0"/>
                            <a:ea typeface="Cambria Math" panose="02040503050406030204" pitchFamily="18" charset="0"/>
                          </a:rPr>
                        </m:ctrlPr>
                      </m:fPr>
                      <m:num>
                        <m:sSup>
                          <m:sSupPr>
                            <m:ctrlPr>
                              <a:rPr lang="es-ES" sz="2000" b="0" i="1" smtClean="0">
                                <a:latin typeface="Cambria Math" panose="02040503050406030204" pitchFamily="18" charset="0"/>
                                <a:ea typeface="Cambria Math" panose="02040503050406030204" pitchFamily="18" charset="0"/>
                              </a:rPr>
                            </m:ctrlPr>
                          </m:sSupPr>
                          <m:e>
                            <m:r>
                              <a:rPr lang="es-ES" sz="2000" b="0" i="1" smtClean="0">
                                <a:latin typeface="Cambria Math" panose="02040503050406030204" pitchFamily="18" charset="0"/>
                                <a:ea typeface="Cambria Math" panose="02040503050406030204" pitchFamily="18" charset="0"/>
                              </a:rPr>
                              <m:t>𝜆</m:t>
                            </m:r>
                          </m:e>
                          <m:sup>
                            <m:r>
                              <a:rPr lang="es-ES" sz="2000" b="0" i="1" smtClean="0">
                                <a:latin typeface="Cambria Math" panose="02040503050406030204" pitchFamily="18" charset="0"/>
                                <a:ea typeface="Cambria Math" panose="02040503050406030204" pitchFamily="18" charset="0"/>
                              </a:rPr>
                              <m:t>2</m:t>
                            </m:r>
                          </m:sup>
                        </m:sSup>
                      </m:num>
                      <m:den>
                        <m:sSub>
                          <m:sSubPr>
                            <m:ctrlPr>
                              <a:rPr lang="es-ES" sz="2000" b="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𝑛</m:t>
                            </m:r>
                          </m:e>
                          <m:sub>
                            <m:r>
                              <a:rPr lang="es-ES" sz="2000" b="0" i="1" smtClean="0">
                                <a:latin typeface="Cambria Math" panose="02040503050406030204" pitchFamily="18" charset="0"/>
                                <a:ea typeface="Cambria Math" panose="02040503050406030204" pitchFamily="18" charset="0"/>
                              </a:rPr>
                              <m:t>𝑔</m:t>
                            </m:r>
                          </m:sub>
                        </m:sSub>
                        <m:r>
                          <m:rPr>
                            <m:sty m:val="p"/>
                          </m:rPr>
                          <a:rPr lang="el-GR" sz="2000" b="0" i="1" smtClean="0">
                            <a:latin typeface="Cambria Math" panose="02040503050406030204" pitchFamily="18" charset="0"/>
                            <a:ea typeface="Cambria Math" panose="02040503050406030204" pitchFamily="18" charset="0"/>
                          </a:rPr>
                          <m:t>Δ</m:t>
                        </m:r>
                        <m:sSub>
                          <m:sSubPr>
                            <m:ctrlPr>
                              <a:rPr lang="el-GR" sz="2000" b="0" i="1" smtClean="0">
                                <a:latin typeface="Cambria Math" panose="02040503050406030204" pitchFamily="18" charset="0"/>
                                <a:ea typeface="Cambria Math" panose="02040503050406030204" pitchFamily="18" charset="0"/>
                              </a:rPr>
                            </m:ctrlPr>
                          </m:sSubPr>
                          <m:e>
                            <m:r>
                              <a:rPr lang="el-GR" sz="2000" b="0" i="1" smtClean="0">
                                <a:latin typeface="Cambria Math" panose="02040503050406030204" pitchFamily="18" charset="0"/>
                                <a:ea typeface="Cambria Math" panose="02040503050406030204" pitchFamily="18" charset="0"/>
                              </a:rPr>
                              <m:t>𝜆</m:t>
                            </m:r>
                          </m:e>
                          <m:sub>
                            <m:r>
                              <a:rPr lang="es-ES" sz="2000" b="0" i="1" smtClean="0">
                                <a:latin typeface="Cambria Math" panose="02040503050406030204" pitchFamily="18" charset="0"/>
                                <a:ea typeface="Cambria Math" panose="02040503050406030204" pitchFamily="18" charset="0"/>
                              </a:rPr>
                              <m:t>𝐹𝑆𝑅</m:t>
                            </m:r>
                          </m:sub>
                        </m:sSub>
                      </m:den>
                    </m:f>
                  </m:oMath>
                </a14:m>
                <a:r>
                  <a:rPr lang="en-US" sz="2000" dirty="0"/>
                  <a:t> =</a:t>
                </a:r>
                <a14:m>
                  <m:oMath xmlns:m="http://schemas.openxmlformats.org/officeDocument/2006/math">
                    <m:f>
                      <m:fPr>
                        <m:ctrlPr>
                          <a:rPr lang="en-US" sz="2000" i="1" dirty="0" smtClean="0">
                            <a:latin typeface="Cambria Math" panose="02040503050406030204" pitchFamily="18" charset="0"/>
                          </a:rPr>
                        </m:ctrlPr>
                      </m:fPr>
                      <m:num>
                        <m:sSup>
                          <m:sSupPr>
                            <m:ctrlPr>
                              <a:rPr lang="es-ES" sz="2000" b="0" i="1" dirty="0" smtClean="0">
                                <a:latin typeface="Cambria Math" panose="02040503050406030204" pitchFamily="18" charset="0"/>
                              </a:rPr>
                            </m:ctrlPr>
                          </m:sSupPr>
                          <m:e>
                            <m:r>
                              <a:rPr lang="es-ES" sz="2000" b="0" i="1" dirty="0" smtClean="0">
                                <a:latin typeface="Cambria Math" panose="02040503050406030204" pitchFamily="18" charset="0"/>
                              </a:rPr>
                              <m:t>1550</m:t>
                            </m:r>
                          </m:e>
                          <m:sup>
                            <m:r>
                              <a:rPr lang="es-ES" sz="2000" b="0" i="1" dirty="0" smtClean="0">
                                <a:latin typeface="Cambria Math" panose="02040503050406030204" pitchFamily="18" charset="0"/>
                              </a:rPr>
                              <m:t>2</m:t>
                            </m:r>
                          </m:sup>
                        </m:sSup>
                      </m:num>
                      <m:den>
                        <m:r>
                          <a:rPr lang="es-ES" sz="2000" b="0" i="1" dirty="0" smtClean="0">
                            <a:latin typeface="Cambria Math" panose="02040503050406030204" pitchFamily="18" charset="0"/>
                          </a:rPr>
                          <m:t>2∗2</m:t>
                        </m:r>
                      </m:den>
                    </m:f>
                    <m:r>
                      <a:rPr lang="es-ES" sz="2000" b="0" i="1" dirty="0" smtClean="0">
                        <a:latin typeface="Cambria Math" panose="02040503050406030204" pitchFamily="18" charset="0"/>
                      </a:rPr>
                      <m:t>=600 </m:t>
                    </m:r>
                    <m:r>
                      <a:rPr lang="es-ES" sz="2000" b="0" i="1" dirty="0" smtClean="0">
                        <a:latin typeface="Cambria Math" panose="02040503050406030204" pitchFamily="18" charset="0"/>
                        <a:ea typeface="Cambria Math" panose="02040503050406030204" pitchFamily="18" charset="0"/>
                      </a:rPr>
                      <m:t>𝜇</m:t>
                    </m:r>
                    <m:r>
                      <a:rPr lang="es-ES" sz="2000" b="0" i="1" dirty="0" smtClean="0">
                        <a:latin typeface="Cambria Math" panose="02040503050406030204" pitchFamily="18" charset="0"/>
                        <a:ea typeface="Cambria Math" panose="02040503050406030204" pitchFamily="18" charset="0"/>
                      </a:rPr>
                      <m:t>𝑚</m:t>
                    </m:r>
                    <m:r>
                      <a:rPr lang="es-ES" sz="2000" b="0" i="1" dirty="0" smtClean="0">
                        <a:latin typeface="Cambria Math" panose="02040503050406030204" pitchFamily="18" charset="0"/>
                      </a:rPr>
                      <m:t> </m:t>
                    </m:r>
                  </m:oMath>
                </a14:m>
                <a:r>
                  <a:rPr lang="en-US" sz="2000" dirty="0"/>
                  <a:t> </a:t>
                </a:r>
              </a:p>
            </p:txBody>
          </p:sp>
        </mc:Choice>
        <mc:Fallback xmlns="">
          <p:sp>
            <p:nvSpPr>
              <p:cNvPr id="15" name="CuadroTexto 14">
                <a:extLst>
                  <a:ext uri="{FF2B5EF4-FFF2-40B4-BE49-F238E27FC236}">
                    <a16:creationId xmlns:a16="http://schemas.microsoft.com/office/drawing/2014/main" id="{54CF28B4-1346-F41D-2CD8-EA104ABBFB98}"/>
                  </a:ext>
                </a:extLst>
              </p:cNvPr>
              <p:cNvSpPr txBox="1">
                <a:spLocks noRot="1" noChangeAspect="1" noMove="1" noResize="1" noEditPoints="1" noAdjustHandles="1" noChangeArrowheads="1" noChangeShapeType="1" noTextEdit="1"/>
              </p:cNvSpPr>
              <p:nvPr/>
            </p:nvSpPr>
            <p:spPr>
              <a:xfrm>
                <a:off x="880909" y="2202744"/>
                <a:ext cx="1967315" cy="1428404"/>
              </a:xfrm>
              <a:prstGeom prst="rect">
                <a:avLst/>
              </a:prstGeom>
              <a:blipFill>
                <a:blip r:embed="rId2"/>
                <a:stretch>
                  <a:fillRect b="-426"/>
                </a:stretch>
              </a:blipFill>
            </p:spPr>
            <p:txBody>
              <a:bodyPr/>
              <a:lstStyle/>
              <a:p>
                <a:r>
                  <a:rPr lang="es-ES">
                    <a:noFill/>
                  </a:rPr>
                  <a:t> </a:t>
                </a:r>
              </a:p>
            </p:txBody>
          </p:sp>
        </mc:Fallback>
      </mc:AlternateContent>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#2 – MZI Design</a:t>
            </a:r>
          </a:p>
          <a:p>
            <a:pPr marL="12700">
              <a:spcBef>
                <a:spcPts val="100"/>
              </a:spcBef>
            </a:pPr>
            <a:r>
              <a:rPr lang="en-US" b="0" kern="0" spc="-5">
                <a:latin typeface="+mj-lt"/>
                <a:cs typeface="Lucida Sans"/>
              </a:rPr>
              <a:t>Design a MZI with FSR = 10 nm at 1550 nm</a:t>
            </a:r>
            <a:br>
              <a:rPr lang="en-US" b="0" kern="0" spc="-5">
                <a:latin typeface="+mj-lt"/>
                <a:cs typeface="Lucida Sans"/>
              </a:rPr>
            </a:br>
            <a:endParaRPr lang="en-US" b="0" kern="0">
              <a:latin typeface="+mj-lt"/>
              <a:cs typeface="Lucida Sans"/>
            </a:endParaRPr>
          </a:p>
        </p:txBody>
      </p:sp>
      <p:pic>
        <p:nvPicPr>
          <p:cNvPr id="4" name="Imagen 3">
            <a:extLst>
              <a:ext uri="{FF2B5EF4-FFF2-40B4-BE49-F238E27FC236}">
                <a16:creationId xmlns:a16="http://schemas.microsoft.com/office/drawing/2014/main" id="{0F4FE447-A3A5-36D2-3B62-D36F335F97E0}"/>
              </a:ext>
            </a:extLst>
          </p:cNvPr>
          <p:cNvPicPr>
            <a:picLocks noChangeAspect="1"/>
          </p:cNvPicPr>
          <p:nvPr/>
        </p:nvPicPr>
        <p:blipFill>
          <a:blip r:embed="rId4"/>
          <a:stretch>
            <a:fillRect/>
          </a:stretch>
        </p:blipFill>
        <p:spPr>
          <a:xfrm>
            <a:off x="3387983" y="1771292"/>
            <a:ext cx="5027234" cy="2752555"/>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03731"/>
            <a:ext cx="11199530" cy="2308324"/>
          </a:xfrm>
          <a:prstGeom prst="rect">
            <a:avLst/>
          </a:prstGeom>
          <a:solidFill>
            <a:schemeClr val="bg1">
              <a:lumMod val="95000"/>
            </a:schemeClr>
          </a:solidFill>
          <a:ln w="28575">
            <a:solidFill>
              <a:srgbClr val="E0700D"/>
            </a:solidFill>
          </a:ln>
        </p:spPr>
        <p:txBody>
          <a:bodyPr wrap="square" rtlCol="0">
            <a:spAutoFit/>
          </a:bodyPr>
          <a:lstStyle/>
          <a:p>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Extra: What coupling coefficient will you select for the input coupler if you want to match the losses of the longer arm? Simulate and extract the ER.</a:t>
            </a:r>
            <a:endParaRPr lang="es-E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200" b="1" dirty="0">
                <a:latin typeface="Arial" panose="020B0604020202020204" pitchFamily="34" charset="0"/>
                <a:cs typeface="Arial" panose="020B0604020202020204" pitchFamily="34" charset="0"/>
              </a:rPr>
              <a:t>Caso 1 (Ka=0.5):</a:t>
            </a:r>
            <a:r>
              <a:rPr lang="es-ES" sz="1200" dirty="0">
                <a:latin typeface="Arial" panose="020B0604020202020204" pitchFamily="34" charset="0"/>
                <a:cs typeface="Arial" panose="020B0604020202020204" pitchFamily="34" charset="0"/>
              </a:rPr>
              <a:t> Se divide la luz 50/50, pero la fuerte atenuación del brazo largo (4 dB/cm) hace que las señales lleguen muy descompensadas al acoplador de salida, reduciendo la visibilidad de la interferencia.</a:t>
            </a:r>
          </a:p>
          <a:p>
            <a:pPr marL="171450" indent="-171450">
              <a:buFont typeface="Arial" panose="020B0604020202020204" pitchFamily="34" charset="0"/>
              <a:buChar char="•"/>
            </a:pPr>
            <a:r>
              <a:rPr lang="es-ES" sz="1200" b="1" dirty="0">
                <a:latin typeface="Arial" panose="020B0604020202020204" pitchFamily="34" charset="0"/>
                <a:cs typeface="Arial" panose="020B0604020202020204" pitchFamily="34" charset="0"/>
              </a:rPr>
              <a:t>Caso 2 (Ka=0.1):</a:t>
            </a:r>
            <a:r>
              <a:rPr lang="es-ES" sz="1200" dirty="0">
                <a:latin typeface="Arial" panose="020B0604020202020204" pitchFamily="34" charset="0"/>
                <a:cs typeface="Arial" panose="020B0604020202020204" pitchFamily="34" charset="0"/>
              </a:rPr>
              <a:t> Al ir el 90% de la luz por el brazo corto, apenas hay atenuación y la potencia máxima de salida mejora notablemente (hasta -7.5 dB). Sin embargo, el desequilibrio de potencias entre ambas ramas es aún mayor, lo que empeora drásticamente el ER.</a:t>
            </a:r>
          </a:p>
          <a:p>
            <a:pPr marL="171450" indent="-171450">
              <a:buFont typeface="Arial" panose="020B0604020202020204" pitchFamily="34" charset="0"/>
              <a:buChar char="•"/>
            </a:pPr>
            <a:r>
              <a:rPr lang="es-ES" sz="1200" b="1" dirty="0">
                <a:latin typeface="Arial" panose="020B0604020202020204" pitchFamily="34" charset="0"/>
                <a:cs typeface="Arial" panose="020B0604020202020204" pitchFamily="34" charset="0"/>
              </a:rPr>
              <a:t>Optimización (Extra):</a:t>
            </a:r>
            <a:r>
              <a:rPr lang="es-ES" sz="1200" dirty="0">
                <a:latin typeface="Arial" panose="020B0604020202020204" pitchFamily="34" charset="0"/>
                <a:cs typeface="Arial" panose="020B0604020202020204" pitchFamily="34" charset="0"/>
              </a:rPr>
              <a:t> Para obtener el ER máximo, las potencias deben ser idénticas al recombinarse. El brazo largo pierde unos 22.38 dB (transmisión T = 0.00578), así que hay que compensarlo enviando casi toda la luz por ese camino. Igualando las potencias de ambas ramas (1 - Ka = Ka * T), obtenemos que el acoplo ideal es Ka = 0.994.</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127028"/>
            <a:ext cx="6567854" cy="359737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7306056" y="1127028"/>
            <a:ext cx="4502915" cy="3597373"/>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8" name="Imagen 7">
            <a:extLst>
              <a:ext uri="{FF2B5EF4-FFF2-40B4-BE49-F238E27FC236}">
                <a16:creationId xmlns:a16="http://schemas.microsoft.com/office/drawing/2014/main" id="{D9BA25D3-3CF0-58A3-FA6B-E520B1D7F185}"/>
              </a:ext>
            </a:extLst>
          </p:cNvPr>
          <p:cNvPicPr>
            <a:picLocks noChangeAspect="1"/>
          </p:cNvPicPr>
          <p:nvPr/>
        </p:nvPicPr>
        <p:blipFill>
          <a:blip r:embed="rId3"/>
          <a:stretch>
            <a:fillRect/>
          </a:stretch>
        </p:blipFill>
        <p:spPr>
          <a:xfrm>
            <a:off x="767721" y="1225391"/>
            <a:ext cx="6409574" cy="3400647"/>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10799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Lr = 50um; ng = 4.25; lambda = 1550e-9 </a:t>
            </a:r>
          </a:p>
          <a:p>
            <a:pPr algn="just"/>
            <a:endParaRPr lang="en-US" sz="10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2" name="CuadroTexto 11">
            <a:extLst>
              <a:ext uri="{FF2B5EF4-FFF2-40B4-BE49-F238E27FC236}">
                <a16:creationId xmlns:a16="http://schemas.microsoft.com/office/drawing/2014/main" id="{1D17C364-5A66-F740-B152-8B41A2A4EF26}"/>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Comments:</a:t>
            </a:r>
          </a:p>
          <a:p>
            <a:r>
              <a:rPr lang="es-ES" sz="1200" dirty="0">
                <a:solidFill>
                  <a:schemeClr val="tx1"/>
                </a:solidFill>
                <a:latin typeface="Arial" panose="020B0604020202020204" pitchFamily="34" charset="0"/>
                <a:cs typeface="Arial" panose="020B0604020202020204" pitchFamily="34" charset="0"/>
              </a:rPr>
              <a:t>La función de transferencia del resonador en anillo presenta un espectro de transmisión periódico, caracterizado por caídas de potencia muy pronunciadas y altamente selectivas en las frecuencias de resonancia. Asimismo, se observa una relación inversa entre el perímetro del anillo L y el FSR: al aumentar el perímetro de 30 µm a 100 µm, la separación entre las resonancias disminuye considerablemente.</a:t>
            </a:r>
          </a:p>
          <a:p>
            <a:r>
              <a:rPr lang="es-ES" sz="1200" dirty="0">
                <a:solidFill>
                  <a:schemeClr val="tx1"/>
                </a:solidFill>
                <a:latin typeface="Arial" panose="020B0604020202020204" pitchFamily="34" charset="0"/>
                <a:cs typeface="Arial" panose="020B0604020202020204" pitchFamily="34" charset="0"/>
              </a:rPr>
              <a:t>Para L = 50 µm, el cálculo teórico proporciona un FSR de 11.31 nm, que coincide con la distancia observada entre los valles consecutivos de la curva obtenida mediante simulación, validando así los resultados alcanzados.</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5" name="CuadroTexto 14">
            <a:extLst>
              <a:ext uri="{FF2B5EF4-FFF2-40B4-BE49-F238E27FC236}">
                <a16:creationId xmlns:a16="http://schemas.microsoft.com/office/drawing/2014/main" id="{54CF28B4-1346-F41D-2CD8-EA104ABBFB98}"/>
              </a:ext>
            </a:extLst>
          </p:cNvPr>
          <p:cNvSpPr txBox="1"/>
          <p:nvPr/>
        </p:nvSpPr>
        <p:spPr>
          <a:xfrm>
            <a:off x="1499379" y="2478160"/>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n-US" sz="200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mc:AlternateContent xmlns:mc="http://schemas.openxmlformats.org/markup-compatibility/2006">
        <mc:Choice xmlns:a14="http://schemas.microsoft.com/office/drawing/2010/main" Requires="a14">
          <p:sp>
            <p:nvSpPr>
              <p:cNvPr id="4" name="QuadreDeText 16">
                <a:extLst>
                  <a:ext uri="{FF2B5EF4-FFF2-40B4-BE49-F238E27FC236}">
                    <a16:creationId xmlns:a16="http://schemas.microsoft.com/office/drawing/2014/main" id="{9999F075-7FC3-EF00-FC5F-EF07DEAA7F34}"/>
                  </a:ext>
                </a:extLst>
              </p:cNvPr>
              <p:cNvSpPr txBox="1"/>
              <p:nvPr/>
            </p:nvSpPr>
            <p:spPr>
              <a:xfrm>
                <a:off x="596804" y="5351827"/>
                <a:ext cx="4196405" cy="586827"/>
              </a:xfrm>
              <a:prstGeom prst="rect">
                <a:avLst/>
              </a:prstGeom>
              <a:noFill/>
            </p:spPr>
            <p:txBody>
              <a:bodyPr wrap="none" rtlCol="0">
                <a:spAutoFit/>
              </a:bodyPr>
              <a:lstStyle/>
              <a:p>
                <a14:m>
                  <m:oMath xmlns:m="http://schemas.openxmlformats.org/officeDocument/2006/math">
                    <m:sSub>
                      <m:sSubPr>
                        <m:ctrlPr>
                          <a:rPr lang="ca-ES-valencia" i="1" smtClean="0">
                            <a:latin typeface="Cambria Math" panose="02040503050406030204" pitchFamily="18" charset="0"/>
                            <a:ea typeface="Cambria Math" panose="02040503050406030204" pitchFamily="18" charset="0"/>
                          </a:rPr>
                        </m:ctrlPr>
                      </m:sSubPr>
                      <m:e>
                        <m:r>
                          <a:rPr lang="ca-ES-valencia" i="1">
                            <a:latin typeface="Cambria Math" panose="02040503050406030204" pitchFamily="18" charset="0"/>
                            <a:ea typeface="Cambria Math" panose="02040503050406030204" pitchFamily="18" charset="0"/>
                          </a:rPr>
                          <m:t>∆</m:t>
                        </m:r>
                        <m:r>
                          <a:rPr lang="ca-ES-valencia" i="1">
                            <a:latin typeface="Cambria Math" panose="02040503050406030204" pitchFamily="18" charset="0"/>
                            <a:ea typeface="Cambria Math" panose="02040503050406030204" pitchFamily="18" charset="0"/>
                          </a:rPr>
                          <m:t>𝜆</m:t>
                        </m:r>
                      </m:e>
                      <m:sub>
                        <m:r>
                          <a:rPr lang="ca-ES-valencia" b="0" i="1" smtClean="0">
                            <a:latin typeface="Cambria Math" panose="02040503050406030204" pitchFamily="18" charset="0"/>
                            <a:ea typeface="Cambria Math" panose="02040503050406030204" pitchFamily="18" charset="0"/>
                          </a:rPr>
                          <m:t>𝐹𝑆𝑅</m:t>
                        </m:r>
                      </m:sub>
                    </m:sSub>
                    <m:r>
                      <a:rPr lang="ca-ES-valencia" b="0" i="1" smtClean="0">
                        <a:latin typeface="Cambria Math" panose="02040503050406030204" pitchFamily="18" charset="0"/>
                        <a:ea typeface="Cambria Math" panose="02040503050406030204" pitchFamily="18" charset="0"/>
                      </a:rPr>
                      <m:t>=</m:t>
                    </m:r>
                    <m:f>
                      <m:fPr>
                        <m:ctrlPr>
                          <a:rPr lang="ca-ES-valencia" b="0" i="1" smtClean="0">
                            <a:latin typeface="Cambria Math" panose="02040503050406030204" pitchFamily="18" charset="0"/>
                            <a:ea typeface="Cambria Math" panose="02040503050406030204" pitchFamily="18" charset="0"/>
                          </a:rPr>
                        </m:ctrlPr>
                      </m:fPr>
                      <m:num>
                        <m:sSup>
                          <m:sSupPr>
                            <m:ctrlPr>
                              <a:rPr lang="ca-ES-valencia" b="0" i="1" smtClean="0">
                                <a:latin typeface="Cambria Math" panose="02040503050406030204" pitchFamily="18" charset="0"/>
                                <a:ea typeface="Cambria Math" panose="02040503050406030204" pitchFamily="18" charset="0"/>
                              </a:rPr>
                            </m:ctrlPr>
                          </m:sSupPr>
                          <m:e>
                            <m:r>
                              <a:rPr lang="ca-ES-valencia" b="0" i="1" smtClean="0">
                                <a:latin typeface="Cambria Math" panose="02040503050406030204" pitchFamily="18" charset="0"/>
                                <a:ea typeface="Cambria Math" panose="02040503050406030204" pitchFamily="18" charset="0"/>
                              </a:rPr>
                              <m:t>𝜆</m:t>
                            </m:r>
                          </m:e>
                          <m:sup>
                            <m:r>
                              <a:rPr lang="ca-ES-valencia" b="0" i="1" smtClean="0">
                                <a:latin typeface="Cambria Math" panose="02040503050406030204" pitchFamily="18" charset="0"/>
                                <a:ea typeface="Cambria Math" panose="02040503050406030204" pitchFamily="18" charset="0"/>
                              </a:rPr>
                              <m:t>2</m:t>
                            </m:r>
                          </m:sup>
                        </m:sSup>
                      </m:num>
                      <m:den>
                        <m:sSub>
                          <m:sSubPr>
                            <m:ctrlPr>
                              <a:rPr lang="ca-ES-valencia" b="0" i="1" smtClean="0">
                                <a:latin typeface="Cambria Math" panose="02040503050406030204" pitchFamily="18" charset="0"/>
                                <a:ea typeface="Cambria Math" panose="02040503050406030204" pitchFamily="18" charset="0"/>
                              </a:rPr>
                            </m:ctrlPr>
                          </m:sSubPr>
                          <m:e>
                            <m:r>
                              <a:rPr lang="ca-ES-valencia" b="0" i="1" smtClean="0">
                                <a:latin typeface="Cambria Math" panose="02040503050406030204" pitchFamily="18" charset="0"/>
                                <a:ea typeface="Cambria Math" panose="02040503050406030204" pitchFamily="18" charset="0"/>
                              </a:rPr>
                              <m:t>𝑛</m:t>
                            </m:r>
                          </m:e>
                          <m:sub>
                            <m:r>
                              <a:rPr lang="ca-ES-valencia" b="0" i="1" smtClean="0">
                                <a:latin typeface="Cambria Math" panose="02040503050406030204" pitchFamily="18" charset="0"/>
                                <a:ea typeface="Cambria Math" panose="02040503050406030204" pitchFamily="18" charset="0"/>
                              </a:rPr>
                              <m:t>𝑔</m:t>
                            </m:r>
                          </m:sub>
                        </m:sSub>
                        <m:r>
                          <a:rPr lang="ca-ES-valencia" b="0" i="1" smtClean="0">
                            <a:latin typeface="Cambria Math" panose="02040503050406030204" pitchFamily="18" charset="0"/>
                            <a:ea typeface="Cambria Math" panose="02040503050406030204" pitchFamily="18" charset="0"/>
                          </a:rPr>
                          <m:t>(</m:t>
                        </m:r>
                        <m:r>
                          <a:rPr lang="ca-ES-valencia" i="1">
                            <a:latin typeface="Cambria Math" panose="02040503050406030204" pitchFamily="18" charset="0"/>
                            <a:ea typeface="Cambria Math" panose="02040503050406030204" pitchFamily="18" charset="0"/>
                          </a:rPr>
                          <m:t>𝜆</m:t>
                        </m:r>
                        <m:r>
                          <a:rPr lang="ca-ES-valencia" b="0" i="1" smtClean="0">
                            <a:latin typeface="Cambria Math" panose="02040503050406030204" pitchFamily="18" charset="0"/>
                            <a:ea typeface="Cambria Math" panose="02040503050406030204" pitchFamily="18" charset="0"/>
                          </a:rPr>
                          <m:t>)</m:t>
                        </m:r>
                        <m:sSub>
                          <m:sSubPr>
                            <m:ctrlPr>
                              <a:rPr lang="ca-ES-valencia" b="0" i="1" smtClean="0">
                                <a:latin typeface="Cambria Math" panose="02040503050406030204" pitchFamily="18" charset="0"/>
                                <a:ea typeface="Cambria Math" panose="02040503050406030204" pitchFamily="18" charset="0"/>
                              </a:rPr>
                            </m:ctrlPr>
                          </m:sSubPr>
                          <m:e>
                            <m:r>
                              <a:rPr lang="ca-ES-valencia" b="0" i="1" smtClean="0">
                                <a:latin typeface="Cambria Math" panose="02040503050406030204" pitchFamily="18" charset="0"/>
                                <a:ea typeface="Cambria Math" panose="02040503050406030204" pitchFamily="18" charset="0"/>
                              </a:rPr>
                              <m:t>𝐿</m:t>
                            </m:r>
                          </m:e>
                          <m:sub>
                            <m:r>
                              <a:rPr lang="ca-ES-valencia" b="0" i="1" smtClean="0">
                                <a:latin typeface="Cambria Math" panose="02040503050406030204" pitchFamily="18" charset="0"/>
                                <a:ea typeface="Cambria Math" panose="02040503050406030204" pitchFamily="18" charset="0"/>
                              </a:rPr>
                              <m:t>𝑟</m:t>
                            </m:r>
                          </m:sub>
                        </m:sSub>
                      </m:den>
                    </m:f>
                    <m:r>
                      <a:rPr lang="es-ES" b="0" i="0" smtClean="0">
                        <a:latin typeface="Cambria Math" panose="02040503050406030204" pitchFamily="18" charset="0"/>
                        <a:ea typeface="Cambria Math" panose="02040503050406030204" pitchFamily="18" charset="0"/>
                      </a:rPr>
                      <m:t>= </m:t>
                    </m:r>
                    <m:f>
                      <m:fPr>
                        <m:ctrlPr>
                          <a:rPr lang="es-ES" b="0" i="1" smtClean="0">
                            <a:latin typeface="Cambria Math" panose="02040503050406030204" pitchFamily="18" charset="0"/>
                            <a:ea typeface="Cambria Math" panose="02040503050406030204" pitchFamily="18" charset="0"/>
                          </a:rPr>
                        </m:ctrlPr>
                      </m:fPr>
                      <m:num>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1550∗10−9</m:t>
                            </m:r>
                          </m:e>
                          <m:sup>
                            <m:r>
                              <a:rPr lang="es-ES" b="0" i="1" smtClean="0">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ea typeface="Cambria Math" panose="02040503050406030204" pitchFamily="18" charset="0"/>
                          </a:rPr>
                          <m:t>4.25∗50∗10−6</m:t>
                        </m:r>
                      </m:den>
                    </m:f>
                  </m:oMath>
                </a14:m>
                <a:r>
                  <a:rPr lang="ca-ES-valencia" dirty="0"/>
                  <a:t> = 11.31 nm</a:t>
                </a:r>
              </a:p>
            </p:txBody>
          </p:sp>
        </mc:Choice>
        <mc:Fallback>
          <p:sp>
            <p:nvSpPr>
              <p:cNvPr id="4" name="QuadreDeText 16">
                <a:extLst>
                  <a:ext uri="{FF2B5EF4-FFF2-40B4-BE49-F238E27FC236}">
                    <a16:creationId xmlns:a16="http://schemas.microsoft.com/office/drawing/2014/main" id="{9999F075-7FC3-EF00-FC5F-EF07DEAA7F34}"/>
                  </a:ext>
                </a:extLst>
              </p:cNvPr>
              <p:cNvSpPr txBox="1">
                <a:spLocks noRot="1" noChangeAspect="1" noMove="1" noResize="1" noEditPoints="1" noAdjustHandles="1" noChangeArrowheads="1" noChangeShapeType="1" noTextEdit="1"/>
              </p:cNvSpPr>
              <p:nvPr/>
            </p:nvSpPr>
            <p:spPr>
              <a:xfrm>
                <a:off x="596804" y="5351827"/>
                <a:ext cx="4196405" cy="586827"/>
              </a:xfrm>
              <a:prstGeom prst="rect">
                <a:avLst/>
              </a:prstGeom>
              <a:blipFill>
                <a:blip r:embed="rId3"/>
                <a:stretch>
                  <a:fillRect r="-291"/>
                </a:stretch>
              </a:blipFill>
            </p:spPr>
            <p:txBody>
              <a:bodyPr/>
              <a:lstStyle/>
              <a:p>
                <a:r>
                  <a:rPr lang="es-ES">
                    <a:noFill/>
                  </a:rPr>
                  <a:t> </a:t>
                </a:r>
              </a:p>
            </p:txBody>
          </p:sp>
        </mc:Fallback>
      </mc:AlternateContent>
      <p:pic>
        <p:nvPicPr>
          <p:cNvPr id="13" name="Imagen 12">
            <a:extLst>
              <a:ext uri="{FF2B5EF4-FFF2-40B4-BE49-F238E27FC236}">
                <a16:creationId xmlns:a16="http://schemas.microsoft.com/office/drawing/2014/main" id="{FFAEE826-7388-B21A-A8EB-3E95D17C0C56}"/>
              </a:ext>
            </a:extLst>
          </p:cNvPr>
          <p:cNvPicPr>
            <a:picLocks noChangeAspect="1"/>
          </p:cNvPicPr>
          <p:nvPr/>
        </p:nvPicPr>
        <p:blipFill>
          <a:blip r:embed="rId4"/>
          <a:stretch>
            <a:fillRect/>
          </a:stretch>
        </p:blipFill>
        <p:spPr>
          <a:xfrm>
            <a:off x="1156546" y="1645431"/>
            <a:ext cx="6660219" cy="2996793"/>
          </a:xfrm>
          <a:prstGeom prst="rect">
            <a:avLst/>
          </a:prstGeom>
        </p:spPr>
      </p:pic>
      <p:pic>
        <p:nvPicPr>
          <p:cNvPr id="17" name="Imagen 16">
            <a:extLst>
              <a:ext uri="{FF2B5EF4-FFF2-40B4-BE49-F238E27FC236}">
                <a16:creationId xmlns:a16="http://schemas.microsoft.com/office/drawing/2014/main" id="{8098522C-5B11-CE06-5D84-94DF8266753F}"/>
              </a:ext>
            </a:extLst>
          </p:cNvPr>
          <p:cNvPicPr>
            <a:picLocks noChangeAspect="1"/>
          </p:cNvPicPr>
          <p:nvPr/>
        </p:nvPicPr>
        <p:blipFill>
          <a:blip r:embed="rId5"/>
          <a:stretch>
            <a:fillRect/>
          </a:stretch>
        </p:blipFill>
        <p:spPr>
          <a:xfrm>
            <a:off x="8975389" y="4860335"/>
            <a:ext cx="2764816" cy="1179397"/>
          </a:xfrm>
          <a:prstGeom prst="rect">
            <a:avLst/>
          </a:prstGeom>
        </p:spPr>
      </p:pic>
      <p:sp>
        <p:nvSpPr>
          <p:cNvPr id="7" name="CuadroTexto 6">
            <a:extLst>
              <a:ext uri="{FF2B5EF4-FFF2-40B4-BE49-F238E27FC236}">
                <a16:creationId xmlns:a16="http://schemas.microsoft.com/office/drawing/2014/main" id="{012EE1B9-2DFD-8BA5-7FA3-1C8F3EA713D5}"/>
              </a:ext>
            </a:extLst>
          </p:cNvPr>
          <p:cNvSpPr txBox="1"/>
          <p:nvPr/>
        </p:nvSpPr>
        <p:spPr>
          <a:xfrm>
            <a:off x="5897880" y="5275908"/>
            <a:ext cx="3166251" cy="369332"/>
          </a:xfrm>
          <a:prstGeom prst="rect">
            <a:avLst/>
          </a:prstGeom>
          <a:noFill/>
        </p:spPr>
        <p:txBody>
          <a:bodyPr wrap="none" rtlCol="0">
            <a:spAutoFit/>
          </a:bodyPr>
          <a:lstStyle/>
          <a:p>
            <a:r>
              <a:rPr lang="es-ES" dirty="0"/>
              <a:t>FSR para L=30, 50, 75 y 100 µm:</a:t>
            </a:r>
          </a:p>
        </p:txBody>
      </p:sp>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a:p>
        </p:txBody>
      </p:sp>
      <p:sp>
        <p:nvSpPr>
          <p:cNvPr id="8" name="CuadroTexto 7">
            <a:extLst>
              <a:ext uri="{FF2B5EF4-FFF2-40B4-BE49-F238E27FC236}">
                <a16:creationId xmlns:a16="http://schemas.microsoft.com/office/drawing/2014/main" id="{3BC6D2B9-07F5-E2FA-C9AD-029B63B098DA}"/>
              </a:ext>
            </a:extLst>
          </p:cNvPr>
          <p:cNvSpPr txBox="1"/>
          <p:nvPr/>
        </p:nvSpPr>
        <p:spPr>
          <a:xfrm>
            <a:off x="621451" y="4741225"/>
            <a:ext cx="11199530"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endParaRPr lang="en-U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La simulación con un FSR fijo de 15 nm muestra que el parámetro K determina el comportamiento espectral del resonador. Cuando el acoplamiento es débil (K =0.1), las resonancias presentan una mayor definición y profundidad, alcanzando una extinción de alrededor de 25 dB. Por el contrario, valores mayores de K producen respuestas más anchas y menos pronunciadas.</a:t>
            </a:r>
          </a:p>
          <a:p>
            <a:r>
              <a:rPr lang="es-ES" sz="1200" dirty="0">
                <a:latin typeface="Arial" panose="020B0604020202020204" pitchFamily="34" charset="0"/>
                <a:cs typeface="Arial" panose="020B0604020202020204" pitchFamily="34" charset="0"/>
              </a:rPr>
              <a:t>Según la simulación del código, la condición de acoplamiento crítico se cumpliría para K = 0.1593, lo que cuadra con la gráfica, ya que para K = 0.1 es cuando las resonancias presentan mayor profundidad.</a:t>
            </a:r>
            <a:endParaRPr lang="en-US" sz="12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Rectángulo 2">
                <a:extLst>
                  <a:ext uri="{FF2B5EF4-FFF2-40B4-BE49-F238E27FC236}">
                    <a16:creationId xmlns:a16="http://schemas.microsoft.com/office/drawing/2014/main" id="{E54DA3AC-DFE0-BB51-7C71-7CD9087359D0}"/>
                  </a:ext>
                </a:extLst>
              </p:cNvPr>
              <p:cNvSpPr/>
              <p:nvPr/>
            </p:nvSpPr>
            <p:spPr>
              <a:xfrm>
                <a:off x="7916932" y="1295318"/>
                <a:ext cx="390404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14:m/>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sSub>
                        <m:sSubPr>
                          <m:ctrlPr>
                            <a:rPr lang="es-ES" sz="1200" b="0" i="1" smtClean="0">
                              <a:solidFill>
                                <a:schemeClr val="tx1"/>
                              </a:solidFill>
                              <a:latin typeface="Cambria Math" panose="02040503050406030204" pitchFamily="18" charset="0"/>
                              <a:cs typeface="Arial" panose="020B0604020202020204" pitchFamily="34" charset="0"/>
                            </a:rPr>
                          </m:ctrlPr>
                        </m:sSubPr>
                        <m:e>
                          <m:r>
                            <a:rPr lang="es-ES" sz="1200" b="0" i="1" smtClean="0">
                              <a:solidFill>
                                <a:schemeClr val="tx1"/>
                              </a:solidFill>
                              <a:latin typeface="Cambria Math" panose="02040503050406030204" pitchFamily="18" charset="0"/>
                              <a:cs typeface="Arial" panose="020B0604020202020204" pitchFamily="34" charset="0"/>
                            </a:rPr>
                            <m:t>𝐾</m:t>
                          </m:r>
                        </m:e>
                        <m:sub>
                          <m:r>
                            <a:rPr lang="es-ES" sz="1200" b="0" i="1" smtClean="0">
                              <a:solidFill>
                                <a:schemeClr val="tx1"/>
                              </a:solidFill>
                              <a:latin typeface="Cambria Math" panose="02040503050406030204" pitchFamily="18" charset="0"/>
                              <a:cs typeface="Arial" panose="020B0604020202020204" pitchFamily="34" charset="0"/>
                            </a:rPr>
                            <m:t>𝑐𝑟𝑖𝑡𝑖𝑐𝑜</m:t>
                          </m:r>
                        </m:sub>
                      </m:sSub>
                      <m:r>
                        <a:rPr lang="es-ES" sz="1200" b="0" i="1" smtClean="0">
                          <a:solidFill>
                            <a:schemeClr val="tx1"/>
                          </a:solidFill>
                          <a:latin typeface="Cambria Math" panose="02040503050406030204" pitchFamily="18" charset="0"/>
                          <a:cs typeface="Arial" panose="020B0604020202020204" pitchFamily="34" charset="0"/>
                        </a:rPr>
                        <m:t>=1− </m:t>
                      </m:r>
                      <m:sSup>
                        <m:sSupPr>
                          <m:ctrlPr>
                            <a:rPr lang="es-ES" sz="1200" b="0" i="1" smtClean="0">
                              <a:solidFill>
                                <a:schemeClr val="tx1"/>
                              </a:solidFill>
                              <a:latin typeface="Cambria Math" panose="02040503050406030204" pitchFamily="18" charset="0"/>
                              <a:cs typeface="Arial" panose="020B0604020202020204" pitchFamily="34" charset="0"/>
                            </a:rPr>
                          </m:ctrlPr>
                        </m:sSupPr>
                        <m:e>
                          <m:r>
                            <a:rPr lang="es-ES" sz="1200" b="0" i="1" smtClean="0">
                              <a:solidFill>
                                <a:schemeClr val="tx1"/>
                              </a:solidFill>
                              <a:latin typeface="Cambria Math" panose="02040503050406030204" pitchFamily="18" charset="0"/>
                              <a:cs typeface="Arial" panose="020B0604020202020204" pitchFamily="34" charset="0"/>
                            </a:rPr>
                            <m:t>𝑒</m:t>
                          </m:r>
                        </m:e>
                        <m:sup>
                          <m:r>
                            <a:rPr lang="es-ES" sz="1200" b="0" i="1" smtClean="0">
                              <a:solidFill>
                                <a:schemeClr val="tx1"/>
                              </a:solidFill>
                              <a:latin typeface="Cambria Math" panose="02040503050406030204" pitchFamily="18" charset="0"/>
                              <a:cs typeface="Arial" panose="020B0604020202020204" pitchFamily="34" charset="0"/>
                            </a:rPr>
                            <m:t>−</m:t>
                          </m:r>
                          <m:r>
                            <a:rPr lang="es-ES" sz="12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𝛼</m:t>
                          </m:r>
                          <m:r>
                            <a:rPr lang="es-ES" sz="12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𝐿</m:t>
                          </m:r>
                        </m:sup>
                      </m:sSup>
                    </m:oMath>
                  </m:oMathPara>
                </a14:m>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mc:Choice>
        <mc:Fallback>
          <p:sp>
            <p:nvSpPr>
              <p:cNvPr id="3" name="Rectángulo 2">
                <a:extLst>
                  <a:ext uri="{FF2B5EF4-FFF2-40B4-BE49-F238E27FC236}">
                    <a16:creationId xmlns:a16="http://schemas.microsoft.com/office/drawing/2014/main" id="{E54DA3AC-DFE0-BB51-7C71-7CD9087359D0}"/>
                  </a:ext>
                </a:extLst>
              </p:cNvPr>
              <p:cNvSpPr>
                <a:spLocks noRot="1" noChangeAspect="1" noMove="1" noResize="1" noEditPoints="1" noAdjustHandles="1" noChangeArrowheads="1" noChangeShapeType="1" noTextEdit="1"/>
              </p:cNvSpPr>
              <p:nvPr/>
            </p:nvSpPr>
            <p:spPr>
              <a:xfrm>
                <a:off x="7916932" y="1295318"/>
                <a:ext cx="3904049" cy="3306028"/>
              </a:xfrm>
              <a:prstGeom prst="rect">
                <a:avLst/>
              </a:prstGeom>
              <a:blipFill>
                <a:blip r:embed="rId2"/>
                <a:stretch>
                  <a:fillRect/>
                </a:stretch>
              </a:blipFill>
              <a:ln w="28575">
                <a:solidFill>
                  <a:srgbClr val="E0700D"/>
                </a:solidFill>
              </a:ln>
            </p:spPr>
            <p:txBody>
              <a:bodyPr/>
              <a:lstStyle/>
              <a:p>
                <a:r>
                  <a:rPr lang="es-ES">
                    <a:noFill/>
                  </a:rPr>
                  <a:t> </a:t>
                </a:r>
              </a:p>
            </p:txBody>
          </p:sp>
        </mc:Fallback>
      </mc:AlternateContent>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7" name="Imagen 6">
            <a:extLst>
              <a:ext uri="{FF2B5EF4-FFF2-40B4-BE49-F238E27FC236}">
                <a16:creationId xmlns:a16="http://schemas.microsoft.com/office/drawing/2014/main" id="{A3724397-390F-F05A-9EF7-CBC1A72C1A03}"/>
              </a:ext>
            </a:extLst>
          </p:cNvPr>
          <p:cNvPicPr>
            <a:picLocks noChangeAspect="1"/>
          </p:cNvPicPr>
          <p:nvPr/>
        </p:nvPicPr>
        <p:blipFill>
          <a:blip r:embed="rId4"/>
          <a:stretch>
            <a:fillRect/>
          </a:stretch>
        </p:blipFill>
        <p:spPr>
          <a:xfrm>
            <a:off x="787084" y="1344018"/>
            <a:ext cx="6800963" cy="3228740"/>
          </a:xfrm>
          <a:prstGeom prst="rect">
            <a:avLst/>
          </a:prstGeom>
        </p:spPr>
      </p:pic>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316BBB9-D269-5814-5519-4A4C4C553833}"/>
                  </a:ext>
                </a:extLst>
              </p:cNvPr>
              <p:cNvSpPr txBox="1"/>
              <p:nvPr/>
            </p:nvSpPr>
            <p:spPr>
              <a:xfrm>
                <a:off x="8256239" y="3938545"/>
                <a:ext cx="2359557" cy="63421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𝑃𝑒𝑟</m:t>
                      </m:r>
                      <m:r>
                        <a:rPr lang="es-ES" b="0" i="1" smtClean="0">
                          <a:latin typeface="Cambria Math" panose="02040503050406030204" pitchFamily="18" charset="0"/>
                        </a:rPr>
                        <m:t>í</m:t>
                      </m:r>
                      <m:r>
                        <a:rPr lang="es-ES" b="0" i="1" smtClean="0">
                          <a:latin typeface="Cambria Math" panose="02040503050406030204" pitchFamily="18" charset="0"/>
                        </a:rPr>
                        <m:t>𝑚𝑒𝑡𝑟𝑜</m:t>
                      </m:r>
                      <m:r>
                        <a:rPr lang="es-ES" b="0" i="1" smtClean="0">
                          <a:latin typeface="Cambria Math" panose="02040503050406030204" pitchFamily="18" charset="0"/>
                        </a:rPr>
                        <m:t>= </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𝜆</m:t>
                              </m:r>
                            </m:e>
                            <m:sup>
                              <m:r>
                                <a:rPr lang="es-ES" b="0" i="1" smtClean="0">
                                  <a:latin typeface="Cambria Math" panose="02040503050406030204" pitchFamily="18" charset="0"/>
                                </a:rPr>
                                <m:t>2</m:t>
                              </m:r>
                            </m:sup>
                          </m:sSup>
                        </m:num>
                        <m:den>
                          <m:r>
                            <a:rPr lang="es-ES" b="0" i="1" smtClean="0">
                              <a:latin typeface="Cambria Math" panose="02040503050406030204" pitchFamily="18" charset="0"/>
                            </a:rPr>
                            <m:t>𝐹𝑆𝑅</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𝑔</m:t>
                              </m:r>
                            </m:sub>
                          </m:sSub>
                        </m:den>
                      </m:f>
                    </m:oMath>
                  </m:oMathPara>
                </a14:m>
                <a:endParaRPr lang="es-ES" dirty="0"/>
              </a:p>
            </p:txBody>
          </p:sp>
        </mc:Choice>
        <mc:Fallback>
          <p:sp>
            <p:nvSpPr>
              <p:cNvPr id="9" name="CuadroTexto 8">
                <a:extLst>
                  <a:ext uri="{FF2B5EF4-FFF2-40B4-BE49-F238E27FC236}">
                    <a16:creationId xmlns:a16="http://schemas.microsoft.com/office/drawing/2014/main" id="{C316BBB9-D269-5814-5519-4A4C4C553833}"/>
                  </a:ext>
                </a:extLst>
              </p:cNvPr>
              <p:cNvSpPr txBox="1">
                <a:spLocks noRot="1" noChangeAspect="1" noMove="1" noResize="1" noEditPoints="1" noAdjustHandles="1" noChangeArrowheads="1" noChangeShapeType="1" noTextEdit="1"/>
              </p:cNvSpPr>
              <p:nvPr/>
            </p:nvSpPr>
            <p:spPr>
              <a:xfrm>
                <a:off x="8256239" y="3938545"/>
                <a:ext cx="2359557" cy="634213"/>
              </a:xfrm>
              <a:prstGeom prst="rect">
                <a:avLst/>
              </a:prstGeom>
              <a:blipFill>
                <a:blip r:embed="rId5"/>
                <a:stretch>
                  <a:fillRect/>
                </a:stretch>
              </a:blipFill>
            </p:spPr>
            <p:txBody>
              <a:bodyPr/>
              <a:lstStyle/>
              <a:p>
                <a:r>
                  <a:rPr lang="es-ES">
                    <a:noFill/>
                  </a:rPr>
                  <a:t> </a:t>
                </a:r>
              </a:p>
            </p:txBody>
          </p:sp>
        </mc:Fallback>
      </mc:AlternateContent>
      <p:pic>
        <p:nvPicPr>
          <p:cNvPr id="17" name="Imagen 16">
            <a:extLst>
              <a:ext uri="{FF2B5EF4-FFF2-40B4-BE49-F238E27FC236}">
                <a16:creationId xmlns:a16="http://schemas.microsoft.com/office/drawing/2014/main" id="{41732260-726E-3FE5-FF69-482A2C207620}"/>
              </a:ext>
            </a:extLst>
          </p:cNvPr>
          <p:cNvPicPr>
            <a:picLocks noChangeAspect="1"/>
          </p:cNvPicPr>
          <p:nvPr/>
        </p:nvPicPr>
        <p:blipFill>
          <a:blip r:embed="rId6"/>
          <a:stretch>
            <a:fillRect/>
          </a:stretch>
        </p:blipFill>
        <p:spPr>
          <a:xfrm>
            <a:off x="7980398" y="2487286"/>
            <a:ext cx="3777115" cy="1125924"/>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r>
              <a:rPr lang="es-ES" sz="1200" dirty="0">
                <a:latin typeface="Arial" panose="020B0604020202020204" pitchFamily="34" charset="0"/>
                <a:cs typeface="Arial" panose="020B0604020202020204" pitchFamily="34" charset="0"/>
              </a:rPr>
              <a:t>Al hacer el barrido del coeficiente K desde 0.1 hasta 0.9, el comportamiento de las resonancias se puede clasificar en tres grupos:</a:t>
            </a:r>
          </a:p>
          <a:p>
            <a:endParaRPr lang="es-E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200" dirty="0">
                <a:latin typeface="Arial" panose="020B0604020202020204" pitchFamily="34" charset="0"/>
                <a:cs typeface="Arial" panose="020B0604020202020204" pitchFamily="34" charset="0"/>
              </a:rPr>
              <a:t>Acoplamiento crítico (K = 0.2): Es el punto ideal. Aquí, la transmisión en el valle cae prácticamente a cero porque la luz que entra al anillo se iguala perfectamente con las pérdidas por vuelta, lo que cancela la señal por interferencia.</a:t>
            </a:r>
          </a:p>
          <a:p>
            <a:pPr marL="171450" indent="-171450">
              <a:buFont typeface="Arial" panose="020B0604020202020204" pitchFamily="34" charset="0"/>
              <a:buChar char="•"/>
            </a:pPr>
            <a:r>
              <a:rPr lang="es-ES" sz="1200" dirty="0" err="1">
                <a:latin typeface="Arial" panose="020B0604020202020204" pitchFamily="34" charset="0"/>
                <a:cs typeface="Arial" panose="020B0604020202020204" pitchFamily="34" charset="0"/>
              </a:rPr>
              <a:t>Subacoplamiento</a:t>
            </a:r>
            <a:r>
              <a:rPr lang="es-ES" sz="1200" dirty="0">
                <a:latin typeface="Arial" panose="020B0604020202020204" pitchFamily="34" charset="0"/>
                <a:cs typeface="Arial" panose="020B0604020202020204" pitchFamily="34" charset="0"/>
              </a:rPr>
              <a:t> (K = 0.1): Es un acoplamiento débil en el que entra muy poca luz al anillo. Como resultado, el valle de la resonancia es muy estrecho, pero la transmisión no llega a cero.</a:t>
            </a:r>
          </a:p>
          <a:p>
            <a:pPr marL="171450" indent="-171450">
              <a:buFont typeface="Arial" panose="020B0604020202020204" pitchFamily="34" charset="0"/>
              <a:buChar char="•"/>
            </a:pP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(K = 0.3 a 0.9): Se observa un acoplamiento excesivo. Esto provoca que las resonancias se ensanchen y pierdan profundidad gradualmente, hasta que, en K = 0.9, los valles apenas se perciben.</a:t>
            </a:r>
          </a:p>
          <a:p>
            <a:pPr algn="just"/>
            <a:endParaRPr lang="en-US" sz="1200" dirty="0">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sp>
        <p:nvSpPr>
          <p:cNvPr id="25" name="CuadroTexto 24">
            <a:extLst>
              <a:ext uri="{FF2B5EF4-FFF2-40B4-BE49-F238E27FC236}">
                <a16:creationId xmlns:a16="http://schemas.microsoft.com/office/drawing/2014/main" id="{932E03C2-3C23-17D7-1D8F-D7CB2824A6AC}"/>
              </a:ext>
            </a:extLst>
          </p:cNvPr>
          <p:cNvSpPr txBox="1"/>
          <p:nvPr/>
        </p:nvSpPr>
        <p:spPr>
          <a:xfrm>
            <a:off x="965762" y="1117365"/>
            <a:ext cx="817853" cy="369332"/>
          </a:xfrm>
          <a:prstGeom prst="rect">
            <a:avLst/>
          </a:prstGeom>
          <a:noFill/>
        </p:spPr>
        <p:txBody>
          <a:bodyPr wrap="none" rtlCol="0">
            <a:spAutoFit/>
          </a:bodyPr>
          <a:lstStyle/>
          <a:p>
            <a:r>
              <a:rPr lang="es-ES" dirty="0"/>
              <a:t>K = 0.1</a:t>
            </a:r>
          </a:p>
        </p:txBody>
      </p:sp>
      <p:sp>
        <p:nvSpPr>
          <p:cNvPr id="26" name="CuadroTexto 25">
            <a:extLst>
              <a:ext uri="{FF2B5EF4-FFF2-40B4-BE49-F238E27FC236}">
                <a16:creationId xmlns:a16="http://schemas.microsoft.com/office/drawing/2014/main" id="{4FB6D279-24E3-13CA-A7C0-36B433F87EB5}"/>
              </a:ext>
            </a:extLst>
          </p:cNvPr>
          <p:cNvSpPr txBox="1"/>
          <p:nvPr/>
        </p:nvSpPr>
        <p:spPr>
          <a:xfrm>
            <a:off x="3417496" y="1127028"/>
            <a:ext cx="817853" cy="369332"/>
          </a:xfrm>
          <a:prstGeom prst="rect">
            <a:avLst/>
          </a:prstGeom>
          <a:noFill/>
        </p:spPr>
        <p:txBody>
          <a:bodyPr wrap="none" rtlCol="0">
            <a:spAutoFit/>
          </a:bodyPr>
          <a:lstStyle/>
          <a:p>
            <a:r>
              <a:rPr lang="es-ES" dirty="0"/>
              <a:t>K = 0.2</a:t>
            </a:r>
          </a:p>
        </p:txBody>
      </p:sp>
      <p:sp>
        <p:nvSpPr>
          <p:cNvPr id="27" name="CuadroTexto 26">
            <a:extLst>
              <a:ext uri="{FF2B5EF4-FFF2-40B4-BE49-F238E27FC236}">
                <a16:creationId xmlns:a16="http://schemas.microsoft.com/office/drawing/2014/main" id="{EE18164D-36EA-39D1-D3DA-C5CF3F2001D0}"/>
              </a:ext>
            </a:extLst>
          </p:cNvPr>
          <p:cNvSpPr txBox="1"/>
          <p:nvPr/>
        </p:nvSpPr>
        <p:spPr>
          <a:xfrm>
            <a:off x="5687073" y="1117365"/>
            <a:ext cx="817853" cy="369332"/>
          </a:xfrm>
          <a:prstGeom prst="rect">
            <a:avLst/>
          </a:prstGeom>
          <a:noFill/>
        </p:spPr>
        <p:txBody>
          <a:bodyPr wrap="none" rtlCol="0">
            <a:spAutoFit/>
          </a:bodyPr>
          <a:lstStyle/>
          <a:p>
            <a:r>
              <a:rPr lang="es-ES" dirty="0"/>
              <a:t>K = 0.3</a:t>
            </a:r>
          </a:p>
        </p:txBody>
      </p:sp>
      <p:pic>
        <p:nvPicPr>
          <p:cNvPr id="31" name="Imagen 30">
            <a:extLst>
              <a:ext uri="{FF2B5EF4-FFF2-40B4-BE49-F238E27FC236}">
                <a16:creationId xmlns:a16="http://schemas.microsoft.com/office/drawing/2014/main" id="{AE0D775B-3EF6-FAB1-04B4-68E63E9AC5CA}"/>
              </a:ext>
            </a:extLst>
          </p:cNvPr>
          <p:cNvPicPr>
            <a:picLocks noChangeAspect="1"/>
          </p:cNvPicPr>
          <p:nvPr/>
        </p:nvPicPr>
        <p:blipFill>
          <a:blip r:embed="rId2"/>
          <a:stretch>
            <a:fillRect/>
          </a:stretch>
        </p:blipFill>
        <p:spPr>
          <a:xfrm>
            <a:off x="388620" y="1462444"/>
            <a:ext cx="2141032" cy="1711071"/>
          </a:xfrm>
          <a:prstGeom prst="rect">
            <a:avLst/>
          </a:prstGeom>
        </p:spPr>
      </p:pic>
      <p:pic>
        <p:nvPicPr>
          <p:cNvPr id="33" name="Imagen 32">
            <a:extLst>
              <a:ext uri="{FF2B5EF4-FFF2-40B4-BE49-F238E27FC236}">
                <a16:creationId xmlns:a16="http://schemas.microsoft.com/office/drawing/2014/main" id="{AF944473-C547-37F1-30D0-9183257F079D}"/>
              </a:ext>
            </a:extLst>
          </p:cNvPr>
          <p:cNvPicPr>
            <a:picLocks noChangeAspect="1"/>
          </p:cNvPicPr>
          <p:nvPr/>
        </p:nvPicPr>
        <p:blipFill>
          <a:blip r:embed="rId3"/>
          <a:stretch>
            <a:fillRect/>
          </a:stretch>
        </p:blipFill>
        <p:spPr>
          <a:xfrm>
            <a:off x="2819326" y="1453847"/>
            <a:ext cx="2141032" cy="1711071"/>
          </a:xfrm>
          <a:prstGeom prst="rect">
            <a:avLst/>
          </a:prstGeom>
        </p:spPr>
      </p:pic>
      <p:pic>
        <p:nvPicPr>
          <p:cNvPr id="35" name="Imagen 34">
            <a:extLst>
              <a:ext uri="{FF2B5EF4-FFF2-40B4-BE49-F238E27FC236}">
                <a16:creationId xmlns:a16="http://schemas.microsoft.com/office/drawing/2014/main" id="{4C2E1852-736F-EFCA-22F6-5999A1F5A34B}"/>
              </a:ext>
            </a:extLst>
          </p:cNvPr>
          <p:cNvPicPr>
            <a:picLocks noChangeAspect="1"/>
          </p:cNvPicPr>
          <p:nvPr/>
        </p:nvPicPr>
        <p:blipFill>
          <a:blip r:embed="rId4"/>
          <a:stretch>
            <a:fillRect/>
          </a:stretch>
        </p:blipFill>
        <p:spPr>
          <a:xfrm>
            <a:off x="5250032" y="1446020"/>
            <a:ext cx="2141032" cy="1711071"/>
          </a:xfrm>
          <a:prstGeom prst="rect">
            <a:avLst/>
          </a:prstGeom>
        </p:spPr>
      </p:pic>
      <p:pic>
        <p:nvPicPr>
          <p:cNvPr id="37" name="Imagen 36">
            <a:extLst>
              <a:ext uri="{FF2B5EF4-FFF2-40B4-BE49-F238E27FC236}">
                <a16:creationId xmlns:a16="http://schemas.microsoft.com/office/drawing/2014/main" id="{A180520E-58DF-1E5C-85C6-C063824A5697}"/>
              </a:ext>
            </a:extLst>
          </p:cNvPr>
          <p:cNvPicPr>
            <a:picLocks noChangeAspect="1"/>
          </p:cNvPicPr>
          <p:nvPr/>
        </p:nvPicPr>
        <p:blipFill>
          <a:blip r:embed="rId5"/>
          <a:stretch>
            <a:fillRect/>
          </a:stretch>
        </p:blipFill>
        <p:spPr>
          <a:xfrm>
            <a:off x="7680738" y="1453846"/>
            <a:ext cx="2141032" cy="1711071"/>
          </a:xfrm>
          <a:prstGeom prst="rect">
            <a:avLst/>
          </a:prstGeom>
        </p:spPr>
      </p:pic>
      <p:sp>
        <p:nvSpPr>
          <p:cNvPr id="38" name="CuadroTexto 37">
            <a:extLst>
              <a:ext uri="{FF2B5EF4-FFF2-40B4-BE49-F238E27FC236}">
                <a16:creationId xmlns:a16="http://schemas.microsoft.com/office/drawing/2014/main" id="{0741B29A-6E9F-82B9-3857-F616EADA97B4}"/>
              </a:ext>
            </a:extLst>
          </p:cNvPr>
          <p:cNvSpPr txBox="1"/>
          <p:nvPr/>
        </p:nvSpPr>
        <p:spPr>
          <a:xfrm>
            <a:off x="8274714" y="1117365"/>
            <a:ext cx="817853" cy="369332"/>
          </a:xfrm>
          <a:prstGeom prst="rect">
            <a:avLst/>
          </a:prstGeom>
          <a:noFill/>
        </p:spPr>
        <p:txBody>
          <a:bodyPr wrap="none" rtlCol="0">
            <a:spAutoFit/>
          </a:bodyPr>
          <a:lstStyle/>
          <a:p>
            <a:r>
              <a:rPr lang="es-ES" dirty="0"/>
              <a:t>K = 0.4</a:t>
            </a:r>
          </a:p>
        </p:txBody>
      </p:sp>
      <p:pic>
        <p:nvPicPr>
          <p:cNvPr id="40" name="Imagen 39">
            <a:extLst>
              <a:ext uri="{FF2B5EF4-FFF2-40B4-BE49-F238E27FC236}">
                <a16:creationId xmlns:a16="http://schemas.microsoft.com/office/drawing/2014/main" id="{BB5E4542-AB78-F195-A995-E1D902897EC2}"/>
              </a:ext>
            </a:extLst>
          </p:cNvPr>
          <p:cNvPicPr>
            <a:picLocks noChangeAspect="1"/>
          </p:cNvPicPr>
          <p:nvPr/>
        </p:nvPicPr>
        <p:blipFill>
          <a:blip r:embed="rId6"/>
          <a:stretch>
            <a:fillRect/>
          </a:stretch>
        </p:blipFill>
        <p:spPr>
          <a:xfrm>
            <a:off x="9906680" y="1453847"/>
            <a:ext cx="2141032" cy="1711070"/>
          </a:xfrm>
          <a:prstGeom prst="rect">
            <a:avLst/>
          </a:prstGeom>
        </p:spPr>
      </p:pic>
      <p:sp>
        <p:nvSpPr>
          <p:cNvPr id="41" name="CuadroTexto 40">
            <a:extLst>
              <a:ext uri="{FF2B5EF4-FFF2-40B4-BE49-F238E27FC236}">
                <a16:creationId xmlns:a16="http://schemas.microsoft.com/office/drawing/2014/main" id="{B94B7725-F842-5956-A618-96990789C398}"/>
              </a:ext>
            </a:extLst>
          </p:cNvPr>
          <p:cNvSpPr txBox="1"/>
          <p:nvPr/>
        </p:nvSpPr>
        <p:spPr>
          <a:xfrm>
            <a:off x="10495885" y="1086980"/>
            <a:ext cx="817853" cy="369332"/>
          </a:xfrm>
          <a:prstGeom prst="rect">
            <a:avLst/>
          </a:prstGeom>
          <a:noFill/>
        </p:spPr>
        <p:txBody>
          <a:bodyPr wrap="none" rtlCol="0">
            <a:spAutoFit/>
          </a:bodyPr>
          <a:lstStyle/>
          <a:p>
            <a:r>
              <a:rPr lang="es-ES" dirty="0"/>
              <a:t>K = 0.5</a:t>
            </a:r>
          </a:p>
        </p:txBody>
      </p:sp>
      <p:pic>
        <p:nvPicPr>
          <p:cNvPr id="43" name="Imagen 42">
            <a:extLst>
              <a:ext uri="{FF2B5EF4-FFF2-40B4-BE49-F238E27FC236}">
                <a16:creationId xmlns:a16="http://schemas.microsoft.com/office/drawing/2014/main" id="{9461B0A8-3577-6272-646C-FF6B0B83A453}"/>
              </a:ext>
            </a:extLst>
          </p:cNvPr>
          <p:cNvPicPr>
            <a:picLocks noChangeAspect="1"/>
          </p:cNvPicPr>
          <p:nvPr/>
        </p:nvPicPr>
        <p:blipFill>
          <a:blip r:embed="rId7"/>
          <a:stretch>
            <a:fillRect/>
          </a:stretch>
        </p:blipFill>
        <p:spPr>
          <a:xfrm>
            <a:off x="1603973" y="3140667"/>
            <a:ext cx="2141032" cy="1711071"/>
          </a:xfrm>
          <a:prstGeom prst="rect">
            <a:avLst/>
          </a:prstGeom>
        </p:spPr>
      </p:pic>
      <p:sp>
        <p:nvSpPr>
          <p:cNvPr id="44" name="CuadroTexto 43">
            <a:extLst>
              <a:ext uri="{FF2B5EF4-FFF2-40B4-BE49-F238E27FC236}">
                <a16:creationId xmlns:a16="http://schemas.microsoft.com/office/drawing/2014/main" id="{520016B5-416F-741A-5B84-EB844FA0E3CB}"/>
              </a:ext>
            </a:extLst>
          </p:cNvPr>
          <p:cNvSpPr txBox="1"/>
          <p:nvPr/>
        </p:nvSpPr>
        <p:spPr>
          <a:xfrm>
            <a:off x="2163181" y="2822648"/>
            <a:ext cx="817853" cy="369332"/>
          </a:xfrm>
          <a:prstGeom prst="rect">
            <a:avLst/>
          </a:prstGeom>
          <a:noFill/>
        </p:spPr>
        <p:txBody>
          <a:bodyPr wrap="none" rtlCol="0">
            <a:spAutoFit/>
          </a:bodyPr>
          <a:lstStyle/>
          <a:p>
            <a:r>
              <a:rPr lang="es-ES" dirty="0"/>
              <a:t>K = 0.6</a:t>
            </a:r>
          </a:p>
        </p:txBody>
      </p:sp>
      <p:pic>
        <p:nvPicPr>
          <p:cNvPr id="46" name="Imagen 45">
            <a:extLst>
              <a:ext uri="{FF2B5EF4-FFF2-40B4-BE49-F238E27FC236}">
                <a16:creationId xmlns:a16="http://schemas.microsoft.com/office/drawing/2014/main" id="{1EB4CC39-4132-9B1E-1D58-1AE520EFFD20}"/>
              </a:ext>
            </a:extLst>
          </p:cNvPr>
          <p:cNvPicPr>
            <a:picLocks noChangeAspect="1"/>
          </p:cNvPicPr>
          <p:nvPr/>
        </p:nvPicPr>
        <p:blipFill>
          <a:blip r:embed="rId8"/>
          <a:stretch>
            <a:fillRect/>
          </a:stretch>
        </p:blipFill>
        <p:spPr>
          <a:xfrm>
            <a:off x="4016745" y="3113294"/>
            <a:ext cx="2141032" cy="1711071"/>
          </a:xfrm>
          <a:prstGeom prst="rect">
            <a:avLst/>
          </a:prstGeom>
        </p:spPr>
      </p:pic>
      <p:sp>
        <p:nvSpPr>
          <p:cNvPr id="47" name="CuadroTexto 46">
            <a:extLst>
              <a:ext uri="{FF2B5EF4-FFF2-40B4-BE49-F238E27FC236}">
                <a16:creationId xmlns:a16="http://schemas.microsoft.com/office/drawing/2014/main" id="{9F33D0FC-7431-297B-04E0-0A1B14AF9D15}"/>
              </a:ext>
            </a:extLst>
          </p:cNvPr>
          <p:cNvSpPr txBox="1"/>
          <p:nvPr/>
        </p:nvSpPr>
        <p:spPr>
          <a:xfrm>
            <a:off x="4636079" y="2831556"/>
            <a:ext cx="817853" cy="369332"/>
          </a:xfrm>
          <a:prstGeom prst="rect">
            <a:avLst/>
          </a:prstGeom>
          <a:noFill/>
        </p:spPr>
        <p:txBody>
          <a:bodyPr wrap="none" rtlCol="0">
            <a:spAutoFit/>
          </a:bodyPr>
          <a:lstStyle/>
          <a:p>
            <a:r>
              <a:rPr lang="es-ES" dirty="0"/>
              <a:t>K = 0.7</a:t>
            </a:r>
          </a:p>
        </p:txBody>
      </p:sp>
      <p:pic>
        <p:nvPicPr>
          <p:cNvPr id="49" name="Imagen 48">
            <a:extLst>
              <a:ext uri="{FF2B5EF4-FFF2-40B4-BE49-F238E27FC236}">
                <a16:creationId xmlns:a16="http://schemas.microsoft.com/office/drawing/2014/main" id="{64C0B21B-E5EB-5D66-34B3-D9A8A78894BA}"/>
              </a:ext>
            </a:extLst>
          </p:cNvPr>
          <p:cNvPicPr>
            <a:picLocks noChangeAspect="1"/>
          </p:cNvPicPr>
          <p:nvPr/>
        </p:nvPicPr>
        <p:blipFill>
          <a:blip r:embed="rId9"/>
          <a:stretch>
            <a:fillRect/>
          </a:stretch>
        </p:blipFill>
        <p:spPr>
          <a:xfrm>
            <a:off x="6567767" y="3113293"/>
            <a:ext cx="2141032" cy="1711071"/>
          </a:xfrm>
          <a:prstGeom prst="rect">
            <a:avLst/>
          </a:prstGeom>
        </p:spPr>
      </p:pic>
      <p:sp>
        <p:nvSpPr>
          <p:cNvPr id="50" name="CuadroTexto 49">
            <a:extLst>
              <a:ext uri="{FF2B5EF4-FFF2-40B4-BE49-F238E27FC236}">
                <a16:creationId xmlns:a16="http://schemas.microsoft.com/office/drawing/2014/main" id="{0CABD5A1-F343-6DA2-AA71-08BA978010EB}"/>
              </a:ext>
            </a:extLst>
          </p:cNvPr>
          <p:cNvSpPr txBox="1"/>
          <p:nvPr/>
        </p:nvSpPr>
        <p:spPr>
          <a:xfrm>
            <a:off x="7067047" y="2800195"/>
            <a:ext cx="817853" cy="369332"/>
          </a:xfrm>
          <a:prstGeom prst="rect">
            <a:avLst/>
          </a:prstGeom>
          <a:noFill/>
        </p:spPr>
        <p:txBody>
          <a:bodyPr wrap="none" rtlCol="0">
            <a:spAutoFit/>
          </a:bodyPr>
          <a:lstStyle/>
          <a:p>
            <a:r>
              <a:rPr lang="es-ES" dirty="0"/>
              <a:t>K = 0.8</a:t>
            </a:r>
          </a:p>
        </p:txBody>
      </p:sp>
      <p:pic>
        <p:nvPicPr>
          <p:cNvPr id="52" name="Imagen 51">
            <a:extLst>
              <a:ext uri="{FF2B5EF4-FFF2-40B4-BE49-F238E27FC236}">
                <a16:creationId xmlns:a16="http://schemas.microsoft.com/office/drawing/2014/main" id="{10E52EFA-1AAD-0988-B89D-39D578DB9EC7}"/>
              </a:ext>
            </a:extLst>
          </p:cNvPr>
          <p:cNvPicPr>
            <a:picLocks noChangeAspect="1"/>
          </p:cNvPicPr>
          <p:nvPr/>
        </p:nvPicPr>
        <p:blipFill>
          <a:blip r:embed="rId10"/>
          <a:stretch>
            <a:fillRect/>
          </a:stretch>
        </p:blipFill>
        <p:spPr>
          <a:xfrm>
            <a:off x="8845798" y="3140666"/>
            <a:ext cx="2141032" cy="1711071"/>
          </a:xfrm>
          <a:prstGeom prst="rect">
            <a:avLst/>
          </a:prstGeom>
        </p:spPr>
      </p:pic>
      <p:sp>
        <p:nvSpPr>
          <p:cNvPr id="54" name="CuadroTexto 53">
            <a:extLst>
              <a:ext uri="{FF2B5EF4-FFF2-40B4-BE49-F238E27FC236}">
                <a16:creationId xmlns:a16="http://schemas.microsoft.com/office/drawing/2014/main" id="{6C39FA3F-6B05-0F29-4235-5D62E98268A4}"/>
              </a:ext>
            </a:extLst>
          </p:cNvPr>
          <p:cNvSpPr txBox="1"/>
          <p:nvPr/>
        </p:nvSpPr>
        <p:spPr>
          <a:xfrm>
            <a:off x="9380126" y="2844650"/>
            <a:ext cx="817853" cy="369332"/>
          </a:xfrm>
          <a:prstGeom prst="rect">
            <a:avLst/>
          </a:prstGeom>
          <a:noFill/>
        </p:spPr>
        <p:txBody>
          <a:bodyPr wrap="none" rtlCol="0">
            <a:spAutoFit/>
          </a:bodyPr>
          <a:lstStyle/>
          <a:p>
            <a:r>
              <a:rPr lang="es-ES" dirty="0"/>
              <a:t>K = 0.9</a:t>
            </a:r>
          </a:p>
        </p:txBody>
      </p:sp>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76200" y="4860335"/>
            <a:ext cx="11768667" cy="228524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r>
              <a:rPr lang="es-ES" sz="1200" dirty="0">
                <a:latin typeface="Arial" panose="020B0604020202020204" pitchFamily="34" charset="0"/>
                <a:cs typeface="Arial" panose="020B0604020202020204" pitchFamily="34" charset="0"/>
              </a:rPr>
              <a:t>Al incrementar el coeficiente de pérdidas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desde 0 hasta 8 dB/cm, podemos observar claramente cómo el sistema evoluciona y se acerca al punto de acoplamiento crítico:</a:t>
            </a:r>
          </a:p>
          <a:p>
            <a:pPr marL="171450" indent="-171450">
              <a:buFont typeface="Arial" panose="020B0604020202020204" pitchFamily="34" charset="0"/>
              <a:buChar char="•"/>
            </a:pPr>
            <a:r>
              <a:rPr lang="es-ES" sz="1200" dirty="0">
                <a:latin typeface="Arial" panose="020B0604020202020204" pitchFamily="34" charset="0"/>
                <a:cs typeface="Arial" panose="020B0604020202020204" pitchFamily="34" charset="0"/>
              </a:rPr>
              <a:t>Acercamiento al acoplamiento crítico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8 dB/cm): Es el caso que más se aproxima al equilibrio perfecto. En este punto, los valles de resonancia alcanzan su mayor profundidad debido a que las pérdidas internas del anillo casi logran igualar a la cantidad de luz que se acopla.</a:t>
            </a:r>
          </a:p>
          <a:p>
            <a:pPr marL="171450" indent="-171450">
              <a:buFont typeface="Arial" panose="020B0604020202020204" pitchFamily="34" charset="0"/>
              <a:buChar char="•"/>
            </a:pPr>
            <a:r>
              <a:rPr lang="es-ES" sz="1200" dirty="0">
                <a:latin typeface="Arial" panose="020B0604020202020204" pitchFamily="34" charset="0"/>
                <a:cs typeface="Arial" panose="020B0604020202020204" pitchFamily="34" charset="0"/>
              </a:rPr>
              <a:t>Ausencia de pérdidas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0 dB/cm): La respuesta del sistema se muestra como una línea plana. Al no existir atenuación dentro del anillo, no hay disipación de energía, por lo que no se generan los valles característicos de la resonancia.</a:t>
            </a:r>
          </a:p>
          <a:p>
            <a:pPr marL="171450" indent="-171450">
              <a:buFont typeface="Arial" panose="020B0604020202020204" pitchFamily="34" charset="0"/>
              <a:buChar char="•"/>
            </a:pPr>
            <a:r>
              <a:rPr lang="es-ES" sz="1200" dirty="0">
                <a:latin typeface="Arial" panose="020B0604020202020204" pitchFamily="34" charset="0"/>
                <a:cs typeface="Arial" panose="020B0604020202020204" pitchFamily="34" charset="0"/>
              </a:rPr>
              <a:t>Estados de transición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1 a 7 dB/cm): Corresponden a estados intermedios. Aunque las pérdidas todavía son demasiado bajas para alcanzar el acoplamiento crítico, podemos observar cómo los valles se van marcando y profundizando de forma progresiva conforme aumentamos la atenuación hacia los 8 dB/cm.</a:t>
            </a:r>
          </a:p>
          <a:p>
            <a:pPr algn="just"/>
            <a:endParaRPr lang="en-US" sz="105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#6b – E</a:t>
            </a:r>
            <a:r>
              <a:rPr lang="en-US" sz="2500"/>
              <a:t>ffect of loss</a:t>
            </a:r>
            <a:endParaRPr lang="en-US" sz="2500" kern="0"/>
          </a:p>
          <a:p>
            <a:pPr marL="12700">
              <a:spcBef>
                <a:spcPts val="100"/>
              </a:spcBef>
            </a:pPr>
            <a:r>
              <a:rPr lang="en-US" b="0" kern="0" spc="-5">
                <a:latin typeface="+mj-lt"/>
                <a:cs typeface="Lucida Sans"/>
              </a:rPr>
              <a:t>Change losses value between 0 and 8 </a:t>
            </a:r>
            <a:r>
              <a:rPr lang="en-US" b="0" kern="0" spc="-5">
                <a:solidFill>
                  <a:srgbClr val="FF0000"/>
                </a:solidFill>
                <a:latin typeface="+mj-lt"/>
                <a:cs typeface="Lucida Sans"/>
              </a:rPr>
              <a:t>dB/cm </a:t>
            </a:r>
            <a:r>
              <a:rPr lang="en-US" b="0" kern="0" spc="-5">
                <a:latin typeface="+mj-lt"/>
                <a:cs typeface="Lucida Sans"/>
              </a:rPr>
              <a:t>in steps of 1</a:t>
            </a:r>
          </a:p>
        </p:txBody>
      </p:sp>
      <p:pic>
        <p:nvPicPr>
          <p:cNvPr id="19" name="Imagen 18">
            <a:extLst>
              <a:ext uri="{FF2B5EF4-FFF2-40B4-BE49-F238E27FC236}">
                <a16:creationId xmlns:a16="http://schemas.microsoft.com/office/drawing/2014/main" id="{AFB5B3A7-2C8F-1022-3BAC-5A503F77986F}"/>
              </a:ext>
            </a:extLst>
          </p:cNvPr>
          <p:cNvPicPr>
            <a:picLocks noChangeAspect="1"/>
          </p:cNvPicPr>
          <p:nvPr/>
        </p:nvPicPr>
        <p:blipFill>
          <a:blip r:embed="rId2"/>
          <a:stretch>
            <a:fillRect/>
          </a:stretch>
        </p:blipFill>
        <p:spPr>
          <a:xfrm>
            <a:off x="210312" y="1349278"/>
            <a:ext cx="2221804" cy="1774706"/>
          </a:xfrm>
          <a:prstGeom prst="rect">
            <a:avLst/>
          </a:prstGeom>
        </p:spPr>
      </p:pic>
      <p:pic>
        <p:nvPicPr>
          <p:cNvPr id="27" name="Imagen 26">
            <a:extLst>
              <a:ext uri="{FF2B5EF4-FFF2-40B4-BE49-F238E27FC236}">
                <a16:creationId xmlns:a16="http://schemas.microsoft.com/office/drawing/2014/main" id="{B0B1FCF7-96A1-153A-3481-AED50CED6783}"/>
              </a:ext>
            </a:extLst>
          </p:cNvPr>
          <p:cNvPicPr>
            <a:picLocks noChangeAspect="1"/>
          </p:cNvPicPr>
          <p:nvPr/>
        </p:nvPicPr>
        <p:blipFill>
          <a:blip r:embed="rId3"/>
          <a:stretch>
            <a:fillRect/>
          </a:stretch>
        </p:blipFill>
        <p:spPr>
          <a:xfrm>
            <a:off x="2484120" y="1365011"/>
            <a:ext cx="2221802" cy="1774705"/>
          </a:xfrm>
          <a:prstGeom prst="rect">
            <a:avLst/>
          </a:prstGeom>
        </p:spPr>
      </p:pic>
      <p:pic>
        <p:nvPicPr>
          <p:cNvPr id="29" name="Imagen 28">
            <a:extLst>
              <a:ext uri="{FF2B5EF4-FFF2-40B4-BE49-F238E27FC236}">
                <a16:creationId xmlns:a16="http://schemas.microsoft.com/office/drawing/2014/main" id="{4CE2FDC4-1EB6-E141-1033-846352B0F197}"/>
              </a:ext>
            </a:extLst>
          </p:cNvPr>
          <p:cNvPicPr>
            <a:picLocks noChangeAspect="1"/>
          </p:cNvPicPr>
          <p:nvPr/>
        </p:nvPicPr>
        <p:blipFill>
          <a:blip r:embed="rId4"/>
          <a:stretch>
            <a:fillRect/>
          </a:stretch>
        </p:blipFill>
        <p:spPr>
          <a:xfrm>
            <a:off x="4757926" y="1365011"/>
            <a:ext cx="2221802" cy="1774704"/>
          </a:xfrm>
          <a:prstGeom prst="rect">
            <a:avLst/>
          </a:prstGeom>
        </p:spPr>
      </p:pic>
      <p:pic>
        <p:nvPicPr>
          <p:cNvPr id="31" name="Imagen 30">
            <a:extLst>
              <a:ext uri="{FF2B5EF4-FFF2-40B4-BE49-F238E27FC236}">
                <a16:creationId xmlns:a16="http://schemas.microsoft.com/office/drawing/2014/main" id="{C80F0018-7043-2CDB-A5E8-D8506F2CE901}"/>
              </a:ext>
            </a:extLst>
          </p:cNvPr>
          <p:cNvPicPr>
            <a:picLocks noChangeAspect="1"/>
          </p:cNvPicPr>
          <p:nvPr/>
        </p:nvPicPr>
        <p:blipFill>
          <a:blip r:embed="rId5"/>
          <a:stretch>
            <a:fillRect/>
          </a:stretch>
        </p:blipFill>
        <p:spPr>
          <a:xfrm>
            <a:off x="7089837" y="1349278"/>
            <a:ext cx="2221803" cy="1774705"/>
          </a:xfrm>
          <a:prstGeom prst="rect">
            <a:avLst/>
          </a:prstGeom>
        </p:spPr>
      </p:pic>
      <p:pic>
        <p:nvPicPr>
          <p:cNvPr id="33" name="Imagen 32">
            <a:extLst>
              <a:ext uri="{FF2B5EF4-FFF2-40B4-BE49-F238E27FC236}">
                <a16:creationId xmlns:a16="http://schemas.microsoft.com/office/drawing/2014/main" id="{E54C2847-BB54-81DC-16E8-2B9F98B60621}"/>
              </a:ext>
            </a:extLst>
          </p:cNvPr>
          <p:cNvPicPr>
            <a:picLocks noChangeAspect="1"/>
          </p:cNvPicPr>
          <p:nvPr/>
        </p:nvPicPr>
        <p:blipFill>
          <a:blip r:embed="rId6"/>
          <a:stretch>
            <a:fillRect/>
          </a:stretch>
        </p:blipFill>
        <p:spPr>
          <a:xfrm>
            <a:off x="9473752" y="1365011"/>
            <a:ext cx="2221803" cy="1774705"/>
          </a:xfrm>
          <a:prstGeom prst="rect">
            <a:avLst/>
          </a:prstGeom>
        </p:spPr>
      </p:pic>
      <p:pic>
        <p:nvPicPr>
          <p:cNvPr id="35" name="Imagen 34">
            <a:extLst>
              <a:ext uri="{FF2B5EF4-FFF2-40B4-BE49-F238E27FC236}">
                <a16:creationId xmlns:a16="http://schemas.microsoft.com/office/drawing/2014/main" id="{B3E4D2DF-F020-C347-0042-7D8DF83FAA54}"/>
              </a:ext>
            </a:extLst>
          </p:cNvPr>
          <p:cNvPicPr>
            <a:picLocks noChangeAspect="1"/>
          </p:cNvPicPr>
          <p:nvPr/>
        </p:nvPicPr>
        <p:blipFill>
          <a:blip r:embed="rId7"/>
          <a:stretch>
            <a:fillRect/>
          </a:stretch>
        </p:blipFill>
        <p:spPr>
          <a:xfrm>
            <a:off x="1153000" y="3085630"/>
            <a:ext cx="2221803" cy="1774705"/>
          </a:xfrm>
          <a:prstGeom prst="rect">
            <a:avLst/>
          </a:prstGeom>
        </p:spPr>
      </p:pic>
      <p:pic>
        <p:nvPicPr>
          <p:cNvPr id="37" name="Imagen 36">
            <a:extLst>
              <a:ext uri="{FF2B5EF4-FFF2-40B4-BE49-F238E27FC236}">
                <a16:creationId xmlns:a16="http://schemas.microsoft.com/office/drawing/2014/main" id="{5A10F32C-6D3F-F1F3-0926-3D3817D9D6FE}"/>
              </a:ext>
            </a:extLst>
          </p:cNvPr>
          <p:cNvPicPr>
            <a:picLocks noChangeAspect="1"/>
          </p:cNvPicPr>
          <p:nvPr/>
        </p:nvPicPr>
        <p:blipFill>
          <a:blip r:embed="rId8"/>
          <a:stretch>
            <a:fillRect/>
          </a:stretch>
        </p:blipFill>
        <p:spPr>
          <a:xfrm>
            <a:off x="3510913" y="3084021"/>
            <a:ext cx="2221803" cy="1774705"/>
          </a:xfrm>
          <a:prstGeom prst="rect">
            <a:avLst/>
          </a:prstGeom>
        </p:spPr>
      </p:pic>
      <p:pic>
        <p:nvPicPr>
          <p:cNvPr id="39" name="Imagen 38">
            <a:extLst>
              <a:ext uri="{FF2B5EF4-FFF2-40B4-BE49-F238E27FC236}">
                <a16:creationId xmlns:a16="http://schemas.microsoft.com/office/drawing/2014/main" id="{AAB35E68-2402-FA99-4723-9501B84535C2}"/>
              </a:ext>
            </a:extLst>
          </p:cNvPr>
          <p:cNvPicPr>
            <a:picLocks noChangeAspect="1"/>
          </p:cNvPicPr>
          <p:nvPr/>
        </p:nvPicPr>
        <p:blipFill>
          <a:blip r:embed="rId9"/>
          <a:stretch>
            <a:fillRect/>
          </a:stretch>
        </p:blipFill>
        <p:spPr>
          <a:xfrm>
            <a:off x="5946417" y="3122790"/>
            <a:ext cx="2124728" cy="1697165"/>
          </a:xfrm>
          <a:prstGeom prst="rect">
            <a:avLst/>
          </a:prstGeom>
        </p:spPr>
      </p:pic>
      <p:pic>
        <p:nvPicPr>
          <p:cNvPr id="41" name="Imagen 40">
            <a:extLst>
              <a:ext uri="{FF2B5EF4-FFF2-40B4-BE49-F238E27FC236}">
                <a16:creationId xmlns:a16="http://schemas.microsoft.com/office/drawing/2014/main" id="{063A5CE5-3E2D-E0F5-F3FF-876AEE7F21F0}"/>
              </a:ext>
            </a:extLst>
          </p:cNvPr>
          <p:cNvPicPr>
            <a:picLocks noChangeAspect="1"/>
          </p:cNvPicPr>
          <p:nvPr/>
        </p:nvPicPr>
        <p:blipFill>
          <a:blip r:embed="rId10"/>
          <a:stretch>
            <a:fillRect/>
          </a:stretch>
        </p:blipFill>
        <p:spPr>
          <a:xfrm>
            <a:off x="8310848" y="3065441"/>
            <a:ext cx="2221802" cy="1774704"/>
          </a:xfrm>
          <a:prstGeom prst="rect">
            <a:avLst/>
          </a:prstGeom>
        </p:spPr>
      </p:pic>
      <p:sp>
        <p:nvSpPr>
          <p:cNvPr id="42" name="CuadroTexto 41">
            <a:extLst>
              <a:ext uri="{FF2B5EF4-FFF2-40B4-BE49-F238E27FC236}">
                <a16:creationId xmlns:a16="http://schemas.microsoft.com/office/drawing/2014/main" id="{E7F5BC4F-5B55-9C28-4202-2F58B4B109FF}"/>
              </a:ext>
            </a:extLst>
          </p:cNvPr>
          <p:cNvSpPr txBox="1"/>
          <p:nvPr/>
        </p:nvSpPr>
        <p:spPr>
          <a:xfrm>
            <a:off x="744073" y="1101912"/>
            <a:ext cx="901209" cy="369332"/>
          </a:xfrm>
          <a:prstGeom prst="rect">
            <a:avLst/>
          </a:prstGeom>
          <a:noFill/>
        </p:spPr>
        <p:txBody>
          <a:bodyPr wrap="none" rtlCol="0">
            <a:spAutoFit/>
          </a:bodyPr>
          <a:lstStyle/>
          <a:p>
            <a:r>
              <a:rPr lang="es-ES" dirty="0"/>
              <a:t>α= 0 dB</a:t>
            </a:r>
          </a:p>
        </p:txBody>
      </p:sp>
      <p:sp>
        <p:nvSpPr>
          <p:cNvPr id="43" name="CuadroTexto 42">
            <a:extLst>
              <a:ext uri="{FF2B5EF4-FFF2-40B4-BE49-F238E27FC236}">
                <a16:creationId xmlns:a16="http://schemas.microsoft.com/office/drawing/2014/main" id="{7B4749BA-693C-3E4F-8B76-75C8E87B3C93}"/>
              </a:ext>
            </a:extLst>
          </p:cNvPr>
          <p:cNvSpPr txBox="1"/>
          <p:nvPr/>
        </p:nvSpPr>
        <p:spPr>
          <a:xfrm>
            <a:off x="3060308" y="1090058"/>
            <a:ext cx="901209" cy="369332"/>
          </a:xfrm>
          <a:prstGeom prst="rect">
            <a:avLst/>
          </a:prstGeom>
          <a:noFill/>
        </p:spPr>
        <p:txBody>
          <a:bodyPr wrap="none" rtlCol="0">
            <a:spAutoFit/>
          </a:bodyPr>
          <a:lstStyle/>
          <a:p>
            <a:r>
              <a:rPr lang="es-ES" dirty="0"/>
              <a:t>α= 1 dB</a:t>
            </a:r>
          </a:p>
        </p:txBody>
      </p:sp>
      <p:sp>
        <p:nvSpPr>
          <p:cNvPr id="44" name="CuadroTexto 43">
            <a:extLst>
              <a:ext uri="{FF2B5EF4-FFF2-40B4-BE49-F238E27FC236}">
                <a16:creationId xmlns:a16="http://schemas.microsoft.com/office/drawing/2014/main" id="{D6D3DA59-6474-D214-FF98-0FED971486D6}"/>
              </a:ext>
            </a:extLst>
          </p:cNvPr>
          <p:cNvSpPr txBox="1"/>
          <p:nvPr/>
        </p:nvSpPr>
        <p:spPr>
          <a:xfrm>
            <a:off x="5281796" y="1111716"/>
            <a:ext cx="901209" cy="369332"/>
          </a:xfrm>
          <a:prstGeom prst="rect">
            <a:avLst/>
          </a:prstGeom>
          <a:noFill/>
        </p:spPr>
        <p:txBody>
          <a:bodyPr wrap="none" rtlCol="0">
            <a:spAutoFit/>
          </a:bodyPr>
          <a:lstStyle/>
          <a:p>
            <a:r>
              <a:rPr lang="es-ES" dirty="0"/>
              <a:t>α= 2 dB</a:t>
            </a:r>
          </a:p>
        </p:txBody>
      </p:sp>
      <p:sp>
        <p:nvSpPr>
          <p:cNvPr id="45" name="CuadroTexto 44">
            <a:extLst>
              <a:ext uri="{FF2B5EF4-FFF2-40B4-BE49-F238E27FC236}">
                <a16:creationId xmlns:a16="http://schemas.microsoft.com/office/drawing/2014/main" id="{36051217-4208-A8D6-ED0B-24BA1A91EB6B}"/>
              </a:ext>
            </a:extLst>
          </p:cNvPr>
          <p:cNvSpPr txBox="1"/>
          <p:nvPr/>
        </p:nvSpPr>
        <p:spPr>
          <a:xfrm>
            <a:off x="7606588" y="1065062"/>
            <a:ext cx="901209" cy="369332"/>
          </a:xfrm>
          <a:prstGeom prst="rect">
            <a:avLst/>
          </a:prstGeom>
          <a:noFill/>
        </p:spPr>
        <p:txBody>
          <a:bodyPr wrap="none" rtlCol="0">
            <a:spAutoFit/>
          </a:bodyPr>
          <a:lstStyle/>
          <a:p>
            <a:r>
              <a:rPr lang="es-ES" dirty="0"/>
              <a:t>α= 3 dB</a:t>
            </a:r>
          </a:p>
        </p:txBody>
      </p:sp>
      <p:sp>
        <p:nvSpPr>
          <p:cNvPr id="46" name="CuadroTexto 45">
            <a:extLst>
              <a:ext uri="{FF2B5EF4-FFF2-40B4-BE49-F238E27FC236}">
                <a16:creationId xmlns:a16="http://schemas.microsoft.com/office/drawing/2014/main" id="{09121275-993E-4C05-6A12-EABE5AFF4BC0}"/>
              </a:ext>
            </a:extLst>
          </p:cNvPr>
          <p:cNvSpPr txBox="1"/>
          <p:nvPr/>
        </p:nvSpPr>
        <p:spPr>
          <a:xfrm>
            <a:off x="9981096" y="1101000"/>
            <a:ext cx="901209" cy="369332"/>
          </a:xfrm>
          <a:prstGeom prst="rect">
            <a:avLst/>
          </a:prstGeom>
          <a:noFill/>
        </p:spPr>
        <p:txBody>
          <a:bodyPr wrap="none" rtlCol="0">
            <a:spAutoFit/>
          </a:bodyPr>
          <a:lstStyle/>
          <a:p>
            <a:r>
              <a:rPr lang="es-ES" dirty="0"/>
              <a:t>α= 4 dB</a:t>
            </a:r>
          </a:p>
        </p:txBody>
      </p:sp>
      <p:sp>
        <p:nvSpPr>
          <p:cNvPr id="47" name="CuadroTexto 46">
            <a:extLst>
              <a:ext uri="{FF2B5EF4-FFF2-40B4-BE49-F238E27FC236}">
                <a16:creationId xmlns:a16="http://schemas.microsoft.com/office/drawing/2014/main" id="{4EB68DE7-018F-7CC1-7A32-894C036CF74D}"/>
              </a:ext>
            </a:extLst>
          </p:cNvPr>
          <p:cNvSpPr txBox="1"/>
          <p:nvPr/>
        </p:nvSpPr>
        <p:spPr>
          <a:xfrm>
            <a:off x="1748890" y="2824467"/>
            <a:ext cx="901209" cy="369332"/>
          </a:xfrm>
          <a:prstGeom prst="rect">
            <a:avLst/>
          </a:prstGeom>
          <a:noFill/>
        </p:spPr>
        <p:txBody>
          <a:bodyPr wrap="none" rtlCol="0">
            <a:spAutoFit/>
          </a:bodyPr>
          <a:lstStyle/>
          <a:p>
            <a:r>
              <a:rPr lang="es-ES" dirty="0"/>
              <a:t>α= 5 dB</a:t>
            </a:r>
          </a:p>
        </p:txBody>
      </p:sp>
      <p:sp>
        <p:nvSpPr>
          <p:cNvPr id="48" name="CuadroTexto 47">
            <a:extLst>
              <a:ext uri="{FF2B5EF4-FFF2-40B4-BE49-F238E27FC236}">
                <a16:creationId xmlns:a16="http://schemas.microsoft.com/office/drawing/2014/main" id="{C90B1B6C-E165-6310-FBB7-51986C90EBB9}"/>
              </a:ext>
            </a:extLst>
          </p:cNvPr>
          <p:cNvSpPr txBox="1"/>
          <p:nvPr/>
        </p:nvSpPr>
        <p:spPr>
          <a:xfrm>
            <a:off x="4028799" y="2846038"/>
            <a:ext cx="901209" cy="369332"/>
          </a:xfrm>
          <a:prstGeom prst="rect">
            <a:avLst/>
          </a:prstGeom>
          <a:noFill/>
        </p:spPr>
        <p:txBody>
          <a:bodyPr wrap="none" rtlCol="0">
            <a:spAutoFit/>
          </a:bodyPr>
          <a:lstStyle/>
          <a:p>
            <a:r>
              <a:rPr lang="es-ES" dirty="0"/>
              <a:t>α= 6 dB</a:t>
            </a:r>
          </a:p>
        </p:txBody>
      </p:sp>
      <p:sp>
        <p:nvSpPr>
          <p:cNvPr id="49" name="CuadroTexto 48">
            <a:extLst>
              <a:ext uri="{FF2B5EF4-FFF2-40B4-BE49-F238E27FC236}">
                <a16:creationId xmlns:a16="http://schemas.microsoft.com/office/drawing/2014/main" id="{67D4BF5C-041D-3C6A-1D70-9A3418B32BAD}"/>
              </a:ext>
            </a:extLst>
          </p:cNvPr>
          <p:cNvSpPr txBox="1"/>
          <p:nvPr/>
        </p:nvSpPr>
        <p:spPr>
          <a:xfrm>
            <a:off x="6420381" y="2824467"/>
            <a:ext cx="901209" cy="369332"/>
          </a:xfrm>
          <a:prstGeom prst="rect">
            <a:avLst/>
          </a:prstGeom>
          <a:noFill/>
        </p:spPr>
        <p:txBody>
          <a:bodyPr wrap="none" rtlCol="0">
            <a:spAutoFit/>
          </a:bodyPr>
          <a:lstStyle/>
          <a:p>
            <a:r>
              <a:rPr lang="es-ES" dirty="0"/>
              <a:t>α= 7 dB</a:t>
            </a:r>
          </a:p>
        </p:txBody>
      </p:sp>
      <p:sp>
        <p:nvSpPr>
          <p:cNvPr id="50" name="CuadroTexto 49">
            <a:extLst>
              <a:ext uri="{FF2B5EF4-FFF2-40B4-BE49-F238E27FC236}">
                <a16:creationId xmlns:a16="http://schemas.microsoft.com/office/drawing/2014/main" id="{4F4F3557-15C9-67B3-FD6C-C9D2B6901129}"/>
              </a:ext>
            </a:extLst>
          </p:cNvPr>
          <p:cNvSpPr txBox="1"/>
          <p:nvPr/>
        </p:nvSpPr>
        <p:spPr>
          <a:xfrm>
            <a:off x="8758810" y="2780479"/>
            <a:ext cx="901209" cy="369332"/>
          </a:xfrm>
          <a:prstGeom prst="rect">
            <a:avLst/>
          </a:prstGeom>
          <a:noFill/>
        </p:spPr>
        <p:txBody>
          <a:bodyPr wrap="none" rtlCol="0">
            <a:spAutoFit/>
          </a:bodyPr>
          <a:lstStyle/>
          <a:p>
            <a:r>
              <a:rPr lang="es-ES" dirty="0"/>
              <a:t>α= 8 dB</a:t>
            </a:r>
          </a:p>
        </p:txBody>
      </p:sp>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288</TotalTime>
  <Words>1903</Words>
  <Application>Microsoft Office PowerPoint</Application>
  <PresentationFormat>Panorámica</PresentationFormat>
  <Paragraphs>183</Paragraphs>
  <Slides>11</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Aptos</vt:lpstr>
      <vt:lpstr>Arial</vt:lpstr>
      <vt:lpstr>Calibri</vt:lpstr>
      <vt:lpstr>Cambria Math</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Lorena Gimeno Almiñana</cp:lastModifiedBy>
  <cp:revision>2</cp:revision>
  <dcterms:created xsi:type="dcterms:W3CDTF">2025-01-27T02:46:57Z</dcterms:created>
  <dcterms:modified xsi:type="dcterms:W3CDTF">2026-05-27T09:43:54Z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